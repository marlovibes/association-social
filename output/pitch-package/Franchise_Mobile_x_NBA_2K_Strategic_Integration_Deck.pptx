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4569ac0f594b66" /><Relationship Type="http://schemas.openxmlformats.org/officeDocument/2006/relationships/extended-properties" Target="/docProps/app.xml" Id="Re24e7bfe49b8489b" /><Relationship Type="http://schemas.openxmlformats.org/officeDocument/2006/relationships/officeDocument" Target="/ppt/presentation.xml" Id="R9c17a5c0b69b45c3" /></Relationships>
</file>

<file path=ppt/presentation.xml><?xml version="1.0" encoding="utf-8"?>
<p:presentation xmlns:p="http://schemas.openxmlformats.org/presentationml/2006/main">
  <p:sldMasterIdLst>
    <p:sldMasterId xmlns:r="http://schemas.openxmlformats.org/officeDocument/2006/relationships" id="2147483648" r:id="R3219c0980ab84e0c"/>
  </p:sldMasterIdLst>
  <p:notesMasterIdLst>
    <p:notesMasterId xmlns:r="http://schemas.openxmlformats.org/officeDocument/2006/relationships" r:id="R12781c0f1f204111"/>
  </p:notesMasterIdLst>
  <p:sldIdLst>
    <p:sldId xmlns:r="http://schemas.openxmlformats.org/officeDocument/2006/relationships" id="256" r:id="Rcdeee343c7f84d3c"/>
    <p:sldId xmlns:r="http://schemas.openxmlformats.org/officeDocument/2006/relationships" id="257" r:id="R41b95f29205240f3"/>
    <p:sldId xmlns:r="http://schemas.openxmlformats.org/officeDocument/2006/relationships" id="258" r:id="R39b0ecb9bfdd4d4d"/>
    <p:sldId xmlns:r="http://schemas.openxmlformats.org/officeDocument/2006/relationships" id="259" r:id="R7e7867cc96bc418b"/>
    <p:sldId xmlns:r="http://schemas.openxmlformats.org/officeDocument/2006/relationships" id="260" r:id="Reb5d3abb0ee84cb7"/>
    <p:sldId xmlns:r="http://schemas.openxmlformats.org/officeDocument/2006/relationships" id="261" r:id="Rc21646acb25849aa"/>
    <p:sldId xmlns:r="http://schemas.openxmlformats.org/officeDocument/2006/relationships" id="262" r:id="R8bd635a9f3094bce"/>
    <p:sldId xmlns:r="http://schemas.openxmlformats.org/officeDocument/2006/relationships" id="263" r:id="R6c76a2bc3abe4229"/>
    <p:sldId xmlns:r="http://schemas.openxmlformats.org/officeDocument/2006/relationships" id="264" r:id="R72ab38cfbad74222"/>
    <p:sldId xmlns:r="http://schemas.openxmlformats.org/officeDocument/2006/relationships" id="265" r:id="R27e17c88193d48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ce3c7ffcb54869" /><Relationship Type="http://schemas.openxmlformats.org/officeDocument/2006/relationships/slideMaster" Target="/ppt/slideMasters/slideMaster1.xml" Id="R3219c0980ab84e0c" /><Relationship Type="http://schemas.openxmlformats.org/officeDocument/2006/relationships/notesMaster" Target="/ppt/notesMasters/notesMaster1.xml" Id="R12781c0f1f204111" /><Relationship Type="http://schemas.openxmlformats.org/officeDocument/2006/relationships/presProps" Target="/ppt/presProps.xml" Id="R6d49347fe454449a" /><Relationship Type="http://schemas.openxmlformats.org/officeDocument/2006/relationships/tableStyles" Target="/ppt/tableStyles.xml" Id="Rc7dc1fa447384c15" /><Relationship Type="http://schemas.openxmlformats.org/officeDocument/2006/relationships/slide" Target="/ppt/slides/slide1.xml" Id="Rcdeee343c7f84d3c" /><Relationship Type="http://schemas.openxmlformats.org/officeDocument/2006/relationships/slide" Target="/ppt/slides/slide2.xml" Id="R41b95f29205240f3" /><Relationship Type="http://schemas.openxmlformats.org/officeDocument/2006/relationships/slide" Target="/ppt/slides/slide3.xml" Id="R39b0ecb9bfdd4d4d" /><Relationship Type="http://schemas.openxmlformats.org/officeDocument/2006/relationships/slide" Target="/ppt/slides/slide4.xml" Id="R7e7867cc96bc418b" /><Relationship Type="http://schemas.openxmlformats.org/officeDocument/2006/relationships/slide" Target="/ppt/slides/slide5.xml" Id="Reb5d3abb0ee84cb7" /><Relationship Type="http://schemas.openxmlformats.org/officeDocument/2006/relationships/slide" Target="/ppt/slides/slide6.xml" Id="Rc21646acb25849aa" /><Relationship Type="http://schemas.openxmlformats.org/officeDocument/2006/relationships/slide" Target="/ppt/slides/slide7.xml" Id="R8bd635a9f3094bce" /><Relationship Type="http://schemas.openxmlformats.org/officeDocument/2006/relationships/slide" Target="/ppt/slides/slide8.xml" Id="R6c76a2bc3abe4229" /><Relationship Type="http://schemas.openxmlformats.org/officeDocument/2006/relationships/slide" Target="/ppt/slides/slide9.xml" Id="R72ab38cfbad74222" /><Relationship Type="http://schemas.openxmlformats.org/officeDocument/2006/relationships/slide" Target="/ppt/slides/slide10.xml" Id="R27e17c88193d48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1fbd65500d41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a9679134174311" /><Relationship Type="http://schemas.openxmlformats.org/officeDocument/2006/relationships/notesMaster" Target="/ppt/notesMasters/notesMaster1.xml" Id="Re7f90317d28b4b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f7f36701514973" /><Relationship Type="http://schemas.openxmlformats.org/officeDocument/2006/relationships/notesMaster" Target="/ppt/notesMasters/notesMaster1.xml" Id="Rf0cf01f6591e41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468f890651445e" /><Relationship Type="http://schemas.openxmlformats.org/officeDocument/2006/relationships/notesMaster" Target="/ppt/notesMasters/notesMaster1.xml" Id="R367168e4800149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09a09616164abf" /><Relationship Type="http://schemas.openxmlformats.org/officeDocument/2006/relationships/notesMaster" Target="/ppt/notesMasters/notesMaster1.xml" Id="Rbff8cbddb8f841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010fcf0db4610" /><Relationship Type="http://schemas.openxmlformats.org/officeDocument/2006/relationships/notesMaster" Target="/ppt/notesMasters/notesMaster1.xml" Id="R2dc6b456c9a342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44e6fb46f14238" /><Relationship Type="http://schemas.openxmlformats.org/officeDocument/2006/relationships/notesMaster" Target="/ppt/notesMasters/notesMaster1.xml" Id="R339dbfbf61b947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a80405f42444fb" /><Relationship Type="http://schemas.openxmlformats.org/officeDocument/2006/relationships/notesMaster" Target="/ppt/notesMasters/notesMaster1.xml" Id="R86b73c57f6a643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7678440e66471a" /><Relationship Type="http://schemas.openxmlformats.org/officeDocument/2006/relationships/notesMaster" Target="/ppt/notesMasters/notesMaster1.xml" Id="R621f8e1dd31543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3b1d0f9a894b09" /><Relationship Type="http://schemas.openxmlformats.org/officeDocument/2006/relationships/notesMaster" Target="/ppt/notesMasters/notesMaster1.xml" Id="R2019189160004a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7f4f2cd97548cd" /><Relationship Type="http://schemas.openxmlformats.org/officeDocument/2006/relationships/notesMaster" Target="/ppt/notesMasters/notesMaster1.xml" Id="Rf4f308a175244b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one sentence: Franchise Mobile extends a MyNBA or MyGM league into the hours when players are away from console or PC. Clarify immediately that NBA 2K remains the authoritative gameplay experience.</a:t>
            </a:r>
          </a:p>
          <a:p xmlns:a="http://schemas.openxmlformats.org/drawingml/2006/main">
            <a:r>
              <a:t/>
            </a:r>
          </a:p>
          <a:p xmlns:a="http://schemas.openxmlformats.org/drawingml/2006/main">
            <a:r>
              <a:t>[Sources]</a:t>
            </a:r>
          </a:p>
          <a:p xmlns:a="http://schemas.openxmlformats.org/drawingml/2006/main">
            <a:r>
              <a:t>- Internal Franchise Mobile prototype screenshot, captured 2026-07-06.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league continuity, not as a complaint about NBA 2K. The opportunity is to consolidate activity that already occurs outside the game and route it back toward scheduled NBA 2K 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This is a proposed product loop, not a claim that a public NBA 2K integration API exists. The exact account linking, synchronization contract, and server authority would be determined with 2K and Visual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describe the current isolated pitch-demo dataset, not market traction. State plainly that the prototype demonstrates product depth and workflow feasibility; it does not yet represent a live NBA 2K integration.</a:t>
            </a:r>
          </a:p>
          <a:p xmlns:a="http://schemas.openxmlformats.org/drawingml/2006/main">
            <a:r>
              <a:t/>
            </a:r>
          </a:p>
          <a:p xmlns:a="http://schemas.openxmlformats.org/drawingml/2006/main">
            <a:r>
              <a:t>[Sources]</a:t>
            </a:r>
          </a:p>
          <a:p xmlns:a="http://schemas.openxmlformats.org/drawingml/2006/main">
            <a:r>
              <a:t>- Internal pitch-demo verification and seeded Firestore dataset, verified 2026-08-04.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product is not only a stat viewer. It combines front-office operations, commissioner control, social coordination, moderation, and league-wide continuity in one mobile workflow.</a:t>
            </a:r>
          </a:p>
          <a:p xmlns:a="http://schemas.openxmlformats.org/drawingml/2006/main">
            <a:r>
              <a:t/>
            </a:r>
          </a:p>
          <a:p xmlns:a="http://schemas.openxmlformats.org/drawingml/2006/main">
            <a:r>
              <a:t>[Sources]</a:t>
            </a:r>
          </a:p>
          <a:p xmlns:a="http://schemas.openxmlformats.org/drawingml/2006/main">
            <a:r>
              <a:t>- Internal Franchise Mobile prototype screenshots, captured 2026-07-06.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product boundary. Franchise Mobile contributes the mobile operating layer; NBA 2K remains responsible for licensed presentation, playable basketball, authoritative outcomes, identity, entitlements, anti-cheat, and final synchronization contracts.</a:t>
            </a:r>
          </a:p>
          <a:p xmlns:a="http://schemas.openxmlformats.org/drawingml/2006/main">
            <a:r>
              <a:t/>
            </a:r>
          </a:p>
          <a:p xmlns:a="http://schemas.openxmlformats.org/drawingml/2006/main">
            <a:r>
              <a:t>[Sources]</a:t>
            </a:r>
          </a:p>
          <a:p xmlns:a="http://schemas.openxmlformats.org/drawingml/2006/main">
            <a:r>
              <a:t>- Internal Franchise Mobile season screenshot, captured 2026-07-13.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strategic hypotheses for evaluation, not guaranteed business outcomes. 2K already supports shared progress between MyTEAM Mobile and supported console accounts, and recent NBA 2K releases have continued investing in MyNBA and MyGM. Franchise Mobile's fit is an inference from those published directions.</a:t>
            </a:r>
          </a:p>
          <a:p xmlns:a="http://schemas.openxmlformats.org/drawingml/2006/main">
            <a:r>
              <a:t/>
            </a:r>
          </a:p>
          <a:p xmlns:a="http://schemas.openxmlformats.org/drawingml/2006/main">
            <a:r>
              <a:t>[Sources]</a:t>
            </a:r>
          </a:p>
          <a:p xmlns:a="http://schemas.openxmlformats.org/drawingml/2006/main">
            <a:r>
              <a:t>- https://support.2k.com/hc/en-us/articles/26105260862867-NBA-2K-General-Info-MyTEAM-Mobile-FAQ</a:t>
            </a:r>
          </a:p>
          <a:p xmlns:a="http://schemas.openxmlformats.org/drawingml/2006/main">
            <a:r>
              <a:t>- https://newsroom.2k.com/news/endless-possibilities-await-as-mynba-levels-up-in-nbar-2k26</a:t>
            </a:r>
          </a:p>
          <a:p xmlns:a="http://schemas.openxmlformats.org/drawingml/2006/main">
            <a:r>
              <a:t>- https://newsroom.2k.com/news/nbar-2k25-showcases-all-new-stephen-curry-mynba-era-and-introduces-mygm-on-playstationr5-xbox-series-xs-and-pc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section brief. The focused ask is MyNBA and MyGM. MyCAREER community should be presented as a later expansion after the connected franchise loop proves product and technical fit.</a:t>
            </a:r>
          </a:p>
          <a:p xmlns:a="http://schemas.openxmlformats.org/drawingml/2006/main">
            <a:r>
              <a:t/>
            </a:r>
          </a:p>
          <a:p xmlns:a="http://schemas.openxmlformats.org/drawingml/2006/main">
            <a:r>
              <a:t>[Sources]</a:t>
            </a:r>
          </a:p>
          <a:p xmlns:a="http://schemas.openxmlformats.org/drawingml/2006/main">
            <a:r>
              <a:t>- Strategic roadmap developed from the Franchise Mobile product concept; no claim of announced 2K functionality.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a product and technical evaluation, not an immediate commercial demand. Source code, simulation formulas, raw player-rating datasets, credentials, private security architecture, and unreleased roadmap details remain reserved for a separately protected diligence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product and technical evaluation request. Do not negotiate detailed commercial terms in the first meeting. Capture requested follow-up and move sensitive material into a separate diligence process only after scope and recipients are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547018c38447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09bc8bdda343cf" /><Relationship Type="http://schemas.openxmlformats.org/officeDocument/2006/relationships/slideLayout" Target="/ppt/slideLayouts/slideLayout1.xml" Id="R219c1bf2687148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9c1bf2687148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0588aaf6474e85" /><Relationship Type="http://schemas.openxmlformats.org/officeDocument/2006/relationships/image" Target="/ppt/media/image.png" Id="R5f5266fa7d564af3" /><Relationship Type="http://schemas.openxmlformats.org/officeDocument/2006/relationships/notesSlide" Target="/ppt/notesSlides/notesSlide1.xml" Id="R3f78a37344c34e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d33da18aee41bb" /><Relationship Type="http://schemas.openxmlformats.org/officeDocument/2006/relationships/notesSlide" Target="/ppt/notesSlides/notesSlide2.xml" Id="R9c4402938a7245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e21da0867d4e17" /><Relationship Type="http://schemas.openxmlformats.org/officeDocument/2006/relationships/notesSlide" Target="/ppt/notesSlides/notesSlide3.xml" Id="R89e9c0de64c140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3e5bb9ec434487" /><Relationship Type="http://schemas.openxmlformats.org/officeDocument/2006/relationships/notesSlide" Target="/ppt/notesSlides/notesSlide4.xml" Id="Rc42ad299d7aa47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fdffc4700b4c2c" /><Relationship Type="http://schemas.openxmlformats.org/officeDocument/2006/relationships/image" Target="/ppt/media/image2.png" Id="R7a3add0bd59e45d8" /><Relationship Type="http://schemas.openxmlformats.org/officeDocument/2006/relationships/image" Target="/ppt/media/image3.png" Id="R99a639661e084cb7" /><Relationship Type="http://schemas.openxmlformats.org/officeDocument/2006/relationships/image" Target="/ppt/media/image4.png" Id="Rbd2bfedebfed4302" /><Relationship Type="http://schemas.openxmlformats.org/officeDocument/2006/relationships/notesSlide" Target="/ppt/notesSlides/notesSlide5.xml" Id="Rbf9133f2d0c54d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ef83627e0b4bdc" /><Relationship Type="http://schemas.openxmlformats.org/officeDocument/2006/relationships/image" Target="/ppt/media/image5.png" Id="R7967186ef293404d" /><Relationship Type="http://schemas.openxmlformats.org/officeDocument/2006/relationships/notesSlide" Target="/ppt/notesSlides/notesSlide6.xml" Id="R6dc4c1528d344b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22faa7452846fe" /><Relationship Type="http://schemas.openxmlformats.org/officeDocument/2006/relationships/notesSlide" Target="/ppt/notesSlides/notesSlide7.xml" Id="Rcb850970630f4e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85944eb1cf4798" /><Relationship Type="http://schemas.openxmlformats.org/officeDocument/2006/relationships/notesSlide" Target="/ppt/notesSlides/notesSlide8.xml" Id="R5add3c3384ce46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9ae29a4cc8464e" /><Relationship Type="http://schemas.openxmlformats.org/officeDocument/2006/relationships/notesSlide" Target="/ppt/notesSlides/notesSlide9.xml" Id="R69af2f72e9dd4b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d6840e135f4118" /><Relationship Type="http://schemas.openxmlformats.org/officeDocument/2006/relationships/notesSlide" Target="/ppt/notesSlides/notesSlide10.xml" Id="R27bc00c2539c4a55" /></Relationships>
</file>

<file path=ppt/slides/slide1.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F6FAF6-97C8-4718-B307-D01875B519E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E59B"/>
          </a:solidFill>
          <a:ln xmlns:a="http://schemas.openxmlformats.org/drawingml/2006/main" w="11906">
            <a:solidFill>
              <a:srgbClr val="00E59B"/>
            </a:solidFill>
            <a:prstDash val="solid"/>
          </a:ln>
        </p:spPr>
      </p:sp>
      <p:sp>
        <p:nvSpPr>
          <p:cNvPr id="2" name="">
            <a:extLst xmlns:a="http://schemas.openxmlformats.org/drawingml/2006/main">
              <a:ext uri="{FF2B5EF4-FFF2-40B4-BE49-F238E27FC236}">
                <a16:creationId xmlns:a16="http://schemas.microsoft.com/office/drawing/2014/main" id="{8A35BBA3-E84F-4F84-9C6A-D96DDFDF31A4}"/>
              </a:ext>
            </a:extLst>
          </p:cNvPr>
          <p:cNvSpPr>
            <a:spLocks xmlns:a="http://schemas.openxmlformats.org/drawingml/2006/main" noGrp="1"/>
          </p:cNvSpPr>
          <p:nvPr/>
        </p:nvSpPr>
        <p:spPr>
          <a:xfrm xmlns:a="http://schemas.openxmlformats.org/drawingml/2006/main">
            <a:off x="647700" y="7239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00E59B"/>
                </a:solidFill>
                <a:latin typeface="Aptos"/>
                <a:ea typeface="Aptos"/>
                <a:cs typeface="Aptos"/>
              </a:defRPr>
            </a:pPr>
            <a:r>
              <a:rPr sz="1350" b="1">
                <a:solidFill>
                  <a:srgbClr val="00E59B"/>
                </a:solidFill>
                <a:latin typeface="Aptos"/>
                <a:ea typeface="Aptos"/>
                <a:cs typeface="Aptos"/>
              </a:rPr>
              <a:t>FRANCHISE MOBILE x NBA 2K</a:t>
            </a:r>
          </a:p>
        </p:txBody>
      </p:sp>
      <p:sp>
        <p:nvSpPr>
          <p:cNvPr id="3" name="">
            <a:extLst xmlns:a="http://schemas.openxmlformats.org/drawingml/2006/main">
              <a:ext uri="{FF2B5EF4-FFF2-40B4-BE49-F238E27FC236}">
                <a16:creationId xmlns:a16="http://schemas.microsoft.com/office/drawing/2014/main" id="{6DC994A5-9D97-496B-8E98-2C2E563828F6}"/>
              </a:ext>
            </a:extLst>
          </p:cNvPr>
          <p:cNvSpPr>
            <a:spLocks xmlns:a="http://schemas.openxmlformats.org/drawingml/2006/main" noGrp="1"/>
          </p:cNvSpPr>
          <p:nvPr/>
        </p:nvSpPr>
        <p:spPr>
          <a:xfrm xmlns:a="http://schemas.openxmlformats.org/drawingml/2006/main">
            <a:off x="647700" y="1276350"/>
            <a:ext cx="723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4050" b="1">
                <a:solidFill>
                  <a:srgbClr val="F7FAFC"/>
                </a:solidFill>
                <a:latin typeface="Aptos"/>
                <a:ea typeface="Aptos"/>
                <a:cs typeface="Aptos"/>
              </a:defRPr>
            </a:pPr>
            <a:r>
              <a:rPr sz="4050" b="1">
                <a:solidFill>
                  <a:srgbClr val="F7FAFC"/>
                </a:solidFill>
                <a:latin typeface="Aptos"/>
                <a:ea typeface="Aptos"/>
                <a:cs typeface="Aptos"/>
              </a:rPr>
              <a:t>Keep the league alive</a:t>
            </a:r>
          </a:p>
          <a:p xmlns:a="http://schemas.openxmlformats.org/drawingml/2006/main">
            <a:pPr algn="l">
              <a:defRPr sz="4050" b="1">
                <a:solidFill>
                  <a:srgbClr val="F7FAFC"/>
                </a:solidFill>
                <a:latin typeface="Aptos"/>
                <a:ea typeface="Aptos"/>
                <a:cs typeface="Aptos"/>
              </a:defRPr>
            </a:pPr>
            <a:r>
              <a:rPr sz="4050" b="1">
                <a:solidFill>
                  <a:srgbClr val="F7FAFC"/>
                </a:solidFill>
                <a:latin typeface="Aptos"/>
                <a:ea typeface="Aptos"/>
                <a:cs typeface="Aptos"/>
              </a:rPr>
              <a:t>after the console turns off.</a:t>
            </a:r>
          </a:p>
        </p:txBody>
      </p:sp>
      <p:sp>
        <p:nvSpPr>
          <p:cNvPr id="4" name="">
            <a:extLst xmlns:a="http://schemas.openxmlformats.org/drawingml/2006/main">
              <a:ext uri="{FF2B5EF4-FFF2-40B4-BE49-F238E27FC236}">
                <a16:creationId xmlns:a16="http://schemas.microsoft.com/office/drawing/2014/main" id="{023FCAF3-A578-40A5-B1BB-8B1FB625638C}"/>
              </a:ext>
            </a:extLst>
          </p:cNvPr>
          <p:cNvSpPr>
            <a:spLocks xmlns:a="http://schemas.openxmlformats.org/drawingml/2006/main" noGrp="1"/>
          </p:cNvSpPr>
          <p:nvPr/>
        </p:nvSpPr>
        <p:spPr>
          <a:xfrm xmlns:a="http://schemas.openxmlformats.org/drawingml/2006/main">
            <a:off x="647700" y="31432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A8B5BD"/>
                </a:solidFill>
                <a:latin typeface="Aptos"/>
                <a:ea typeface="Aptos"/>
                <a:cs typeface="Aptos"/>
              </a:defRPr>
            </a:pPr>
            <a:r>
              <a:rPr sz="1875" b="0">
                <a:solidFill>
                  <a:srgbClr val="A8B5BD"/>
                </a:solidFill>
                <a:latin typeface="Aptos"/>
                <a:ea typeface="Aptos"/>
                <a:cs typeface="Aptos"/>
              </a:rPr>
              <a:t>A persistent mobile community and front-office companion for MyNBA and MyGM.</a:t>
            </a:r>
          </a:p>
        </p:txBody>
      </p:sp>
      <p:sp>
        <p:nvSpPr>
          <p:cNvPr id="5" name="">
            <a:extLst xmlns:a="http://schemas.openxmlformats.org/drawingml/2006/main">
              <a:ext uri="{FF2B5EF4-FFF2-40B4-BE49-F238E27FC236}">
                <a16:creationId xmlns:a16="http://schemas.microsoft.com/office/drawing/2014/main" id="{60FFA076-73E3-46A3-9119-998D74CED971}"/>
              </a:ext>
            </a:extLst>
          </p:cNvPr>
          <p:cNvSpPr>
            <a:spLocks xmlns:a="http://schemas.openxmlformats.org/drawingml/2006/main" noGrp="1"/>
          </p:cNvSpPr>
          <p:nvPr/>
        </p:nvSpPr>
        <p:spPr>
          <a:xfrm xmlns:a="http://schemas.openxmlformats.org/drawingml/2006/main">
            <a:off x="647700" y="4267200"/>
            <a:ext cx="18097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35C7F0"/>
            </a:solidFill>
            <a:prstDash val="solid"/>
          </a:ln>
        </p:spPr>
      </p:sp>
      <p:sp>
        <p:nvSpPr>
          <p:cNvPr id="6" name="">
            <a:extLst xmlns:a="http://schemas.openxmlformats.org/drawingml/2006/main">
              <a:ext uri="{FF2B5EF4-FFF2-40B4-BE49-F238E27FC236}">
                <a16:creationId xmlns:a16="http://schemas.microsoft.com/office/drawing/2014/main" id="{4C55A10F-4684-4046-881A-EFC0D29ECA98}"/>
              </a:ext>
            </a:extLst>
          </p:cNvPr>
          <p:cNvSpPr>
            <a:spLocks xmlns:a="http://schemas.openxmlformats.org/drawingml/2006/main" noGrp="1"/>
          </p:cNvSpPr>
          <p:nvPr/>
        </p:nvSpPr>
        <p:spPr>
          <a:xfrm xmlns:a="http://schemas.openxmlformats.org/drawingml/2006/main">
            <a:off x="742950" y="42862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35C7F0"/>
                </a:solidFill>
                <a:latin typeface="Aptos"/>
                <a:ea typeface="Aptos"/>
                <a:cs typeface="Aptos"/>
              </a:defRPr>
            </a:pPr>
            <a:r>
              <a:rPr sz="1050" b="1">
                <a:solidFill>
                  <a:srgbClr val="35C7F0"/>
                </a:solidFill>
                <a:latin typeface="Aptos"/>
                <a:ea typeface="Aptos"/>
                <a:cs typeface="Aptos"/>
              </a:rPr>
              <a:t>WORKING PROTOTYPE</a:t>
            </a:r>
          </a:p>
        </p:txBody>
      </p:sp>
      <p:sp>
        <p:nvSpPr>
          <p:cNvPr id="7" name="">
            <a:extLst xmlns:a="http://schemas.openxmlformats.org/drawingml/2006/main">
              <a:ext uri="{FF2B5EF4-FFF2-40B4-BE49-F238E27FC236}">
                <a16:creationId xmlns:a16="http://schemas.microsoft.com/office/drawing/2014/main" id="{7867F19E-8F86-49F4-82D7-302B654D76BD}"/>
              </a:ext>
            </a:extLst>
          </p:cNvPr>
          <p:cNvSpPr>
            <a:spLocks xmlns:a="http://schemas.openxmlformats.org/drawingml/2006/main" noGrp="1"/>
          </p:cNvSpPr>
          <p:nvPr/>
        </p:nvSpPr>
        <p:spPr>
          <a:xfrm xmlns:a="http://schemas.openxmlformats.org/drawingml/2006/main">
            <a:off x="2609850" y="4267200"/>
            <a:ext cx="220980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8" name="">
            <a:extLst xmlns:a="http://schemas.openxmlformats.org/drawingml/2006/main">
              <a:ext uri="{FF2B5EF4-FFF2-40B4-BE49-F238E27FC236}">
                <a16:creationId xmlns:a16="http://schemas.microsoft.com/office/drawing/2014/main" id="{13E407A2-7A8E-4172-A592-869F077DA903}"/>
              </a:ext>
            </a:extLst>
          </p:cNvPr>
          <p:cNvSpPr>
            <a:spLocks xmlns:a="http://schemas.openxmlformats.org/drawingml/2006/main" noGrp="1"/>
          </p:cNvSpPr>
          <p:nvPr/>
        </p:nvSpPr>
        <p:spPr>
          <a:xfrm xmlns:a="http://schemas.openxmlformats.org/drawingml/2006/main">
            <a:off x="2705100" y="42862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PROPOSED 2K INTEGRATION</a:t>
            </a:r>
          </a:p>
        </p:txBody>
      </p:sp>
      <p:sp>
        <p:nvSpPr>
          <p:cNvPr id="9" name="">
            <a:extLst xmlns:a="http://schemas.openxmlformats.org/drawingml/2006/main">
              <a:ext uri="{FF2B5EF4-FFF2-40B4-BE49-F238E27FC236}">
                <a16:creationId xmlns:a16="http://schemas.microsoft.com/office/drawing/2014/main" id="{85E32887-B83F-4939-BEE4-26DCFC94FDA3}"/>
              </a:ext>
            </a:extLst>
          </p:cNvPr>
          <p:cNvSpPr>
            <a:spLocks xmlns:a="http://schemas.openxmlformats.org/drawingml/2006/main" noGrp="1"/>
          </p:cNvSpPr>
          <p:nvPr/>
        </p:nvSpPr>
        <p:spPr>
          <a:xfrm xmlns:a="http://schemas.openxmlformats.org/drawingml/2006/main">
            <a:off x="7981950" y="781050"/>
            <a:ext cx="3333750" cy="5162550"/>
          </a:xfrm>
          <a:prstGeom xmlns:a="http://schemas.openxmlformats.org/drawingml/2006/main" prst="roundRect">
            <a:avLst>
              <a:gd name="adj" fmla="val 4571"/>
            </a:avLst>
          </a:prstGeom>
          <a:solidFill xmlns:a="http://schemas.openxmlformats.org/drawingml/2006/main">
            <a:srgbClr val="10171C"/>
          </a:solidFill>
          <a:ln xmlns:a="http://schemas.openxmlformats.org/drawingml/2006/main" w="11906">
            <a:solidFill>
              <a:srgbClr val="00E59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f5266fa7d564af3"/>
          <a:srcRect xmlns:a="http://schemas.openxmlformats.org/drawingml/2006/main" l="0" t="5502" r="0" b="5502"/>
          <a:stretch xmlns:a="http://schemas.openxmlformats.org/drawingml/2006/main">
            <a:fillRect l="0" t="0" r="0" b="0"/>
          </a:stretch>
        </p:blipFill>
        <p:spPr>
          <a:xfrm xmlns:a="http://schemas.openxmlformats.org/drawingml/2006/main">
            <a:off x="8334375" y="1047750"/>
            <a:ext cx="2628900" cy="4667250"/>
          </a:xfrm>
          <a:prstGeom xmlns:a="http://schemas.openxmlformats.org/drawingml/2006/main" prst="roundRect">
            <a:avLst>
              <a:gd name="adj" fmla="val 4348"/>
            </a:avLst>
          </a:prstGeom>
        </p:spPr>
      </p:pic>
      <p:sp>
        <p:nvSpPr>
          <p:cNvPr id="11" name="">
            <a:extLst xmlns:a="http://schemas.openxmlformats.org/drawingml/2006/main">
              <a:ext uri="{FF2B5EF4-FFF2-40B4-BE49-F238E27FC236}">
                <a16:creationId xmlns:a16="http://schemas.microsoft.com/office/drawing/2014/main" id="{C22B87FD-760C-4C67-BD6B-9B6ABDC5F132}"/>
              </a:ext>
            </a:extLst>
          </p:cNvPr>
          <p:cNvSpPr>
            <a:spLocks xmlns:a="http://schemas.openxmlformats.org/drawingml/2006/main" noGrp="1"/>
          </p:cNvSpPr>
          <p:nvPr/>
        </p:nvSpPr>
        <p:spPr>
          <a:xfrm xmlns:a="http://schemas.openxmlformats.org/drawingml/2006/main">
            <a:off x="647700" y="6048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71808A"/>
                </a:solidFill>
                <a:latin typeface="Aptos"/>
                <a:ea typeface="Aptos"/>
                <a:cs typeface="Aptos"/>
              </a:defRPr>
            </a:pPr>
            <a:r>
              <a:rPr sz="1050" b="1">
                <a:solidFill>
                  <a:srgbClr val="71808A"/>
                </a:solidFill>
                <a:latin typeface="Aptos"/>
                <a:ea typeface="Aptos"/>
                <a:cs typeface="Aptos"/>
              </a:rPr>
              <a:t>Private strategic discussion</a:t>
            </a:r>
          </a:p>
        </p:txBody>
      </p:sp>
    </p:spTree>
    <p:extLst>
      <p:ext uri="{BB962C8B-B14F-4D97-AF65-F5344CB8AC3E}">
        <p14:creationId xmlns:p14="http://schemas.microsoft.com/office/powerpoint/2010/main" val="1940305064"/>
      </p:ext>
    </p:extLst>
  </p:cSld>
</p:sld>
</file>

<file path=ppt/slides/slide2.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2D480F-CEFE-4716-8795-91CF015D265F}"/>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THE GAP</a:t>
            </a:r>
          </a:p>
        </p:txBody>
      </p:sp>
      <p:sp>
        <p:nvSpPr>
          <p:cNvPr id="2" name="">
            <a:extLst xmlns:a="http://schemas.openxmlformats.org/drawingml/2006/main">
              <a:ext uri="{FF2B5EF4-FFF2-40B4-BE49-F238E27FC236}">
                <a16:creationId xmlns:a16="http://schemas.microsoft.com/office/drawing/2014/main" id="{C0967D94-04BD-4461-B788-165961C8A48F}"/>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The game ends. The league should not.</a:t>
            </a:r>
          </a:p>
        </p:txBody>
      </p:sp>
      <p:sp>
        <p:nvSpPr>
          <p:cNvPr id="3" name="">
            <a:extLst xmlns:a="http://schemas.openxmlformats.org/drawingml/2006/main">
              <a:ext uri="{FF2B5EF4-FFF2-40B4-BE49-F238E27FC236}">
                <a16:creationId xmlns:a16="http://schemas.microsoft.com/office/drawing/2014/main" id="{5688890B-7D9D-4696-9782-6644283573D0}"/>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Franchise communities lose momentum when essential activity moves into disconnected tools.</a:t>
            </a:r>
          </a:p>
        </p:txBody>
      </p:sp>
      <p:sp>
        <p:nvSpPr>
          <p:cNvPr id="4" name="">
            <a:extLst xmlns:a="http://schemas.openxmlformats.org/drawingml/2006/main">
              <a:ext uri="{FF2B5EF4-FFF2-40B4-BE49-F238E27FC236}">
                <a16:creationId xmlns:a16="http://schemas.microsoft.com/office/drawing/2014/main" id="{F58A567B-C571-4FD3-9686-9E8D46A091E7}"/>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AB2D5FE3-6279-4601-B6DF-DE7F3134028D}"/>
              </a:ext>
            </a:extLst>
          </p:cNvPr>
          <p:cNvSpPr>
            <a:spLocks xmlns:a="http://schemas.openxmlformats.org/drawingml/2006/main" noGrp="1"/>
          </p:cNvSpPr>
          <p:nvPr/>
        </p:nvSpPr>
        <p:spPr>
          <a:xfrm xmlns:a="http://schemas.openxmlformats.org/drawingml/2006/main">
            <a:off x="704850" y="22479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00E59B"/>
                </a:solidFill>
                <a:latin typeface="Aptos"/>
                <a:ea typeface="Aptos"/>
                <a:cs typeface="Aptos"/>
              </a:defRPr>
            </a:pPr>
            <a:r>
              <a:rPr sz="2250" b="1">
                <a:solidFill>
                  <a:srgbClr val="00E59B"/>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EBEE1CC7-AAEA-43F9-9154-FBE1D25A2718}"/>
              </a:ext>
            </a:extLst>
          </p:cNvPr>
          <p:cNvSpPr>
            <a:spLocks xmlns:a="http://schemas.openxmlformats.org/drawingml/2006/main" noGrp="1"/>
          </p:cNvSpPr>
          <p:nvPr/>
        </p:nvSpPr>
        <p:spPr>
          <a:xfrm xmlns:a="http://schemas.openxmlformats.org/drawingml/2006/main">
            <a:off x="1485900" y="22479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1">
                <a:solidFill>
                  <a:srgbClr val="F7FAFC"/>
                </a:solidFill>
                <a:latin typeface="Aptos"/>
                <a:ea typeface="Aptos"/>
                <a:cs typeface="Aptos"/>
              </a:defRPr>
            </a:pPr>
            <a:r>
              <a:rPr sz="1875" b="1">
                <a:solidFill>
                  <a:srgbClr val="F7FAFC"/>
                </a:solidFill>
                <a:latin typeface="Aptos"/>
                <a:ea typeface="Aptos"/>
                <a:cs typeface="Aptos"/>
              </a:rPr>
              <a:t>Coordination fragments</a:t>
            </a:r>
          </a:p>
        </p:txBody>
      </p:sp>
      <p:sp>
        <p:nvSpPr>
          <p:cNvPr id="7" name="">
            <a:extLst xmlns:a="http://schemas.openxmlformats.org/drawingml/2006/main">
              <a:ext uri="{FF2B5EF4-FFF2-40B4-BE49-F238E27FC236}">
                <a16:creationId xmlns:a16="http://schemas.microsoft.com/office/drawing/2014/main" id="{98A5683B-F0F0-460F-B01F-BD8E7B69C40C}"/>
              </a:ext>
            </a:extLst>
          </p:cNvPr>
          <p:cNvSpPr>
            <a:spLocks xmlns:a="http://schemas.openxmlformats.org/drawingml/2006/main" noGrp="1"/>
          </p:cNvSpPr>
          <p:nvPr/>
        </p:nvSpPr>
        <p:spPr>
          <a:xfrm xmlns:a="http://schemas.openxmlformats.org/drawingml/2006/main">
            <a:off x="4857750" y="2228850"/>
            <a:ext cx="628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Schedules, rules, trades, and availability move into third-party chats and spreadsheets.</a:t>
            </a:r>
          </a:p>
        </p:txBody>
      </p:sp>
      <p:sp>
        <p:nvSpPr>
          <p:cNvPr id="8" name="">
            <a:extLst xmlns:a="http://schemas.openxmlformats.org/drawingml/2006/main">
              <a:ext uri="{FF2B5EF4-FFF2-40B4-BE49-F238E27FC236}">
                <a16:creationId xmlns:a16="http://schemas.microsoft.com/office/drawing/2014/main" id="{79E34FDC-F167-480D-852B-8BB2B329F6D9}"/>
              </a:ext>
            </a:extLst>
          </p:cNvPr>
          <p:cNvSpPr>
            <a:spLocks xmlns:a="http://schemas.openxmlformats.org/drawingml/2006/main" noGrp="1"/>
          </p:cNvSpPr>
          <p:nvPr/>
        </p:nvSpPr>
        <p:spPr>
          <a:xfrm xmlns:a="http://schemas.openxmlformats.org/drawingml/2006/main">
            <a:off x="1485900" y="3124200"/>
            <a:ext cx="9620250" cy="9525"/>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9" name="">
            <a:extLst xmlns:a="http://schemas.openxmlformats.org/drawingml/2006/main">
              <a:ext uri="{FF2B5EF4-FFF2-40B4-BE49-F238E27FC236}">
                <a16:creationId xmlns:a16="http://schemas.microsoft.com/office/drawing/2014/main" id="{3CE37A98-46C1-453A-8F78-CDD317FCE0D6}"/>
              </a:ext>
            </a:extLst>
          </p:cNvPr>
          <p:cNvSpPr>
            <a:spLocks xmlns:a="http://schemas.openxmlformats.org/drawingml/2006/main" noGrp="1"/>
          </p:cNvSpPr>
          <p:nvPr/>
        </p:nvSpPr>
        <p:spPr>
          <a:xfrm xmlns:a="http://schemas.openxmlformats.org/drawingml/2006/main">
            <a:off x="704850" y="35052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F5B82E"/>
                </a:solidFill>
                <a:latin typeface="Aptos"/>
                <a:ea typeface="Aptos"/>
                <a:cs typeface="Aptos"/>
              </a:defRPr>
            </a:pPr>
            <a:r>
              <a:rPr sz="2250" b="1">
                <a:solidFill>
                  <a:srgbClr val="F5B82E"/>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EBA289E1-5DC1-4C9D-BA53-EE724905C88F}"/>
              </a:ext>
            </a:extLst>
          </p:cNvPr>
          <p:cNvSpPr>
            <a:spLocks xmlns:a="http://schemas.openxmlformats.org/drawingml/2006/main" noGrp="1"/>
          </p:cNvSpPr>
          <p:nvPr/>
        </p:nvSpPr>
        <p:spPr>
          <a:xfrm xmlns:a="http://schemas.openxmlformats.org/drawingml/2006/main">
            <a:off x="1485900" y="35052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1">
                <a:solidFill>
                  <a:srgbClr val="F7FAFC"/>
                </a:solidFill>
                <a:latin typeface="Aptos"/>
                <a:ea typeface="Aptos"/>
                <a:cs typeface="Aptos"/>
              </a:defRPr>
            </a:pPr>
            <a:r>
              <a:rPr sz="1875" b="1">
                <a:solidFill>
                  <a:srgbClr val="F7FAFC"/>
                </a:solidFill>
                <a:latin typeface="Aptos"/>
                <a:ea typeface="Aptos"/>
                <a:cs typeface="Aptos"/>
              </a:rPr>
              <a:t>Vacancies stall the league</a:t>
            </a:r>
          </a:p>
        </p:txBody>
      </p:sp>
      <p:sp>
        <p:nvSpPr>
          <p:cNvPr id="11" name="">
            <a:extLst xmlns:a="http://schemas.openxmlformats.org/drawingml/2006/main">
              <a:ext uri="{FF2B5EF4-FFF2-40B4-BE49-F238E27FC236}">
                <a16:creationId xmlns:a16="http://schemas.microsoft.com/office/drawing/2014/main" id="{A8064E18-18F4-499F-986F-7A915EE90D82}"/>
              </a:ext>
            </a:extLst>
          </p:cNvPr>
          <p:cNvSpPr>
            <a:spLocks xmlns:a="http://schemas.openxmlformats.org/drawingml/2006/main" noGrp="1"/>
          </p:cNvSpPr>
          <p:nvPr/>
        </p:nvSpPr>
        <p:spPr>
          <a:xfrm xmlns:a="http://schemas.openxmlformats.org/drawingml/2006/main">
            <a:off x="4857750" y="3486150"/>
            <a:ext cx="628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A missing GM can block matchups, negotiations, and season progression.</a:t>
            </a:r>
          </a:p>
        </p:txBody>
      </p:sp>
      <p:sp>
        <p:nvSpPr>
          <p:cNvPr id="12" name="">
            <a:extLst xmlns:a="http://schemas.openxmlformats.org/drawingml/2006/main">
              <a:ext uri="{FF2B5EF4-FFF2-40B4-BE49-F238E27FC236}">
                <a16:creationId xmlns:a16="http://schemas.microsoft.com/office/drawing/2014/main" id="{F9BFDD8A-1A40-4624-9DC3-19707D2FDAF6}"/>
              </a:ext>
            </a:extLst>
          </p:cNvPr>
          <p:cNvSpPr>
            <a:spLocks xmlns:a="http://schemas.openxmlformats.org/drawingml/2006/main" noGrp="1"/>
          </p:cNvSpPr>
          <p:nvPr/>
        </p:nvSpPr>
        <p:spPr>
          <a:xfrm xmlns:a="http://schemas.openxmlformats.org/drawingml/2006/main">
            <a:off x="1485900" y="4381500"/>
            <a:ext cx="9620250" cy="9525"/>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13" name="">
            <a:extLst xmlns:a="http://schemas.openxmlformats.org/drawingml/2006/main">
              <a:ext uri="{FF2B5EF4-FFF2-40B4-BE49-F238E27FC236}">
                <a16:creationId xmlns:a16="http://schemas.microsoft.com/office/drawing/2014/main" id="{784B584D-15EF-4451-927E-168384161C1A}"/>
              </a:ext>
            </a:extLst>
          </p:cNvPr>
          <p:cNvSpPr>
            <a:spLocks xmlns:a="http://schemas.openxmlformats.org/drawingml/2006/main" noGrp="1"/>
          </p:cNvSpPr>
          <p:nvPr/>
        </p:nvSpPr>
        <p:spPr>
          <a:xfrm xmlns:a="http://schemas.openxmlformats.org/drawingml/2006/main">
            <a:off x="704850" y="47625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00E59B"/>
                </a:solidFill>
                <a:latin typeface="Aptos"/>
                <a:ea typeface="Aptos"/>
                <a:cs typeface="Aptos"/>
              </a:defRPr>
            </a:pPr>
            <a:r>
              <a:rPr sz="2250" b="1">
                <a:solidFill>
                  <a:srgbClr val="00E59B"/>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7F68AACA-AFE2-42B6-9978-17258D11EA9D}"/>
              </a:ext>
            </a:extLst>
          </p:cNvPr>
          <p:cNvSpPr>
            <a:spLocks xmlns:a="http://schemas.openxmlformats.org/drawingml/2006/main" noGrp="1"/>
          </p:cNvSpPr>
          <p:nvPr/>
        </p:nvSpPr>
        <p:spPr>
          <a:xfrm xmlns:a="http://schemas.openxmlformats.org/drawingml/2006/main">
            <a:off x="1485900" y="47625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9546"/>
          </a:bodyPr>
          <a:lstStyle xmlns:a="http://schemas.openxmlformats.org/drawingml/2006/main"/>
          <a:p xmlns:a="http://schemas.openxmlformats.org/drawingml/2006/main">
            <a:pPr algn="l">
              <a:defRPr sz="1875" b="1">
                <a:solidFill>
                  <a:srgbClr val="F7FAFC"/>
                </a:solidFill>
                <a:latin typeface="Aptos"/>
                <a:ea typeface="Aptos"/>
                <a:cs typeface="Aptos"/>
              </a:defRPr>
            </a:pPr>
            <a:r>
              <a:rPr sz="1875" b="1">
                <a:solidFill>
                  <a:srgbClr val="F7FAFC"/>
                </a:solidFill>
                <a:latin typeface="Aptos"/>
                <a:ea typeface="Aptos"/>
                <a:cs typeface="Aptos"/>
              </a:rPr>
              <a:t>Management waits for console time</a:t>
            </a:r>
          </a:p>
        </p:txBody>
      </p:sp>
      <p:sp>
        <p:nvSpPr>
          <p:cNvPr id="15" name="">
            <a:extLst xmlns:a="http://schemas.openxmlformats.org/drawingml/2006/main">
              <a:ext uri="{FF2B5EF4-FFF2-40B4-BE49-F238E27FC236}">
                <a16:creationId xmlns:a16="http://schemas.microsoft.com/office/drawing/2014/main" id="{9A1137E5-86B3-403E-B27A-2E6580C255CB}"/>
              </a:ext>
            </a:extLst>
          </p:cNvPr>
          <p:cNvSpPr>
            <a:spLocks xmlns:a="http://schemas.openxmlformats.org/drawingml/2006/main" noGrp="1"/>
          </p:cNvSpPr>
          <p:nvPr/>
        </p:nvSpPr>
        <p:spPr>
          <a:xfrm xmlns:a="http://schemas.openxmlformats.org/drawingml/2006/main">
            <a:off x="4857750" y="4743450"/>
            <a:ext cx="628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Routine front-office decisions compete with the time required to launch and play the full game.</a:t>
            </a:r>
          </a:p>
        </p:txBody>
      </p:sp>
      <p:sp>
        <p:nvSpPr>
          <p:cNvPr id="16" name="">
            <a:extLst xmlns:a="http://schemas.openxmlformats.org/drawingml/2006/main">
              <a:ext uri="{FF2B5EF4-FFF2-40B4-BE49-F238E27FC236}">
                <a16:creationId xmlns:a16="http://schemas.microsoft.com/office/drawing/2014/main" id="{E96BE5A8-76C3-4FAD-9E9C-29744D622320}"/>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17" name="">
            <a:extLst xmlns:a="http://schemas.openxmlformats.org/drawingml/2006/main">
              <a:ext uri="{FF2B5EF4-FFF2-40B4-BE49-F238E27FC236}">
                <a16:creationId xmlns:a16="http://schemas.microsoft.com/office/drawing/2014/main" id="{12D907BB-FC3C-479F-AB17-D9C015B65486}"/>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02</a:t>
            </a:r>
          </a:p>
        </p:txBody>
      </p:sp>
    </p:spTree>
    <p:extLst>
      <p:ext uri="{BB962C8B-B14F-4D97-AF65-F5344CB8AC3E}">
        <p14:creationId xmlns:p14="http://schemas.microsoft.com/office/powerpoint/2010/main" val="1600428184"/>
      </p:ext>
    </p:extLst>
  </p:cSld>
</p:sld>
</file>

<file path=ppt/slides/slide3.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F8C03D1-2A69-4278-91DE-A61F5076F149}"/>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PRODUCT THESIS</a:t>
            </a:r>
          </a:p>
        </p:txBody>
      </p:sp>
      <p:sp>
        <p:nvSpPr>
          <p:cNvPr id="2" name="">
            <a:extLst xmlns:a="http://schemas.openxmlformats.org/drawingml/2006/main">
              <a:ext uri="{FF2B5EF4-FFF2-40B4-BE49-F238E27FC236}">
                <a16:creationId xmlns:a16="http://schemas.microsoft.com/office/drawing/2014/main" id="{25CE9DFB-7713-4A5A-B713-291C82069518}"/>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One league. Two surfaces. Continuous engagement.</a:t>
            </a:r>
          </a:p>
        </p:txBody>
      </p:sp>
      <p:sp>
        <p:nvSpPr>
          <p:cNvPr id="3" name="">
            <a:extLst xmlns:a="http://schemas.openxmlformats.org/drawingml/2006/main">
              <a:ext uri="{FF2B5EF4-FFF2-40B4-BE49-F238E27FC236}">
                <a16:creationId xmlns:a16="http://schemas.microsoft.com/office/drawing/2014/main" id="{705F1455-82B3-43E2-A7A6-A34D6CCCA09F}"/>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Mobile handles asynchronous management and community; NBA 2K owns the playable basketball experience.</a:t>
            </a:r>
          </a:p>
        </p:txBody>
      </p:sp>
      <p:sp>
        <p:nvSpPr>
          <p:cNvPr id="4" name="">
            <a:extLst xmlns:a="http://schemas.openxmlformats.org/drawingml/2006/main">
              <a:ext uri="{FF2B5EF4-FFF2-40B4-BE49-F238E27FC236}">
                <a16:creationId xmlns:a16="http://schemas.microsoft.com/office/drawing/2014/main" id="{60361164-7179-4C21-B49E-E424F2AED75E}"/>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BDF1B113-BA94-429F-B241-6692D775C230}"/>
              </a:ext>
            </a:extLst>
          </p:cNvPr>
          <p:cNvSpPr>
            <a:spLocks xmlns:a="http://schemas.openxmlformats.org/drawingml/2006/main" noGrp="1"/>
          </p:cNvSpPr>
          <p:nvPr/>
        </p:nvSpPr>
        <p:spPr>
          <a:xfrm xmlns:a="http://schemas.openxmlformats.org/drawingml/2006/main">
            <a:off x="714375" y="2743200"/>
            <a:ext cx="2238375" cy="1809750"/>
          </a:xfrm>
          <a:prstGeom xmlns:a="http://schemas.openxmlformats.org/drawingml/2006/main" prst="roundRect">
            <a:avLst>
              <a:gd name="adj" fmla="val 6316"/>
            </a:avLst>
          </a:prstGeom>
          <a:solidFill xmlns:a="http://schemas.openxmlformats.org/drawingml/2006/main">
            <a:srgbClr val="151E24"/>
          </a:solidFill>
          <a:ln xmlns:a="http://schemas.openxmlformats.org/drawingml/2006/main" w="11906">
            <a:solidFill>
              <a:srgbClr val="35C7F0"/>
            </a:solidFill>
            <a:prstDash val="solid"/>
          </a:ln>
        </p:spPr>
      </p:sp>
      <p:sp>
        <p:nvSpPr>
          <p:cNvPr id="6" name="">
            <a:extLst xmlns:a="http://schemas.openxmlformats.org/drawingml/2006/main">
              <a:ext uri="{FF2B5EF4-FFF2-40B4-BE49-F238E27FC236}">
                <a16:creationId xmlns:a16="http://schemas.microsoft.com/office/drawing/2014/main" id="{3B27C3CB-1D67-4FB8-B3A9-C13C227CE3BE}"/>
              </a:ext>
            </a:extLst>
          </p:cNvPr>
          <p:cNvSpPr>
            <a:spLocks xmlns:a="http://schemas.openxmlformats.org/drawingml/2006/main" noGrp="1"/>
          </p:cNvSpPr>
          <p:nvPr/>
        </p:nvSpPr>
        <p:spPr>
          <a:xfrm xmlns:a="http://schemas.openxmlformats.org/drawingml/2006/main">
            <a:off x="904875" y="2990850"/>
            <a:ext cx="185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35C7F0"/>
                </a:solidFill>
                <a:latin typeface="Aptos"/>
                <a:ea typeface="Aptos"/>
                <a:cs typeface="Aptos"/>
              </a:defRPr>
            </a:pPr>
            <a:r>
              <a:rPr sz="1800" b="1">
                <a:solidFill>
                  <a:srgbClr val="35C7F0"/>
                </a:solidFill>
                <a:latin typeface="Aptos"/>
                <a:ea typeface="Aptos"/>
                <a:cs typeface="Aptos"/>
              </a:rPr>
              <a:t>PREPARE</a:t>
            </a:r>
          </a:p>
        </p:txBody>
      </p:sp>
      <p:sp>
        <p:nvSpPr>
          <p:cNvPr id="7" name="">
            <a:extLst xmlns:a="http://schemas.openxmlformats.org/drawingml/2006/main">
              <a:ext uri="{FF2B5EF4-FFF2-40B4-BE49-F238E27FC236}">
                <a16:creationId xmlns:a16="http://schemas.microsoft.com/office/drawing/2014/main" id="{3BDCC2A0-4282-4E97-BAE5-B791394F578E}"/>
              </a:ext>
            </a:extLst>
          </p:cNvPr>
          <p:cNvSpPr>
            <a:spLocks xmlns:a="http://schemas.openxmlformats.org/drawingml/2006/main" noGrp="1"/>
          </p:cNvSpPr>
          <p:nvPr/>
        </p:nvSpPr>
        <p:spPr>
          <a:xfrm xmlns:a="http://schemas.openxmlformats.org/drawingml/2006/main">
            <a:off x="904875" y="3467100"/>
            <a:ext cx="1857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Roster, trades, scouting, strategy</a:t>
            </a:r>
          </a:p>
        </p:txBody>
      </p:sp>
      <p:sp>
        <p:nvSpPr>
          <p:cNvPr id="8" name="">
            <a:extLst xmlns:a="http://schemas.openxmlformats.org/drawingml/2006/main">
              <a:ext uri="{FF2B5EF4-FFF2-40B4-BE49-F238E27FC236}">
                <a16:creationId xmlns:a16="http://schemas.microsoft.com/office/drawing/2014/main" id="{C54F02CC-55E6-482B-B84B-7CAE5BBA20D4}"/>
              </a:ext>
            </a:extLst>
          </p:cNvPr>
          <p:cNvSpPr>
            <a:spLocks xmlns:a="http://schemas.openxmlformats.org/drawingml/2006/main" noGrp="1"/>
          </p:cNvSpPr>
          <p:nvPr/>
        </p:nvSpPr>
        <p:spPr>
          <a:xfrm xmlns:a="http://schemas.openxmlformats.org/drawingml/2006/main">
            <a:off x="2952750" y="3619500"/>
            <a:ext cx="590550" cy="28575"/>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9" name="">
            <a:extLst xmlns:a="http://schemas.openxmlformats.org/drawingml/2006/main">
              <a:ext uri="{FF2B5EF4-FFF2-40B4-BE49-F238E27FC236}">
                <a16:creationId xmlns:a16="http://schemas.microsoft.com/office/drawing/2014/main" id="{258C678C-3135-429A-B24A-DD7D6FFD4EAA}"/>
              </a:ext>
            </a:extLst>
          </p:cNvPr>
          <p:cNvSpPr>
            <a:spLocks xmlns:a="http://schemas.openxmlformats.org/drawingml/2006/main" noGrp="1"/>
          </p:cNvSpPr>
          <p:nvPr/>
        </p:nvSpPr>
        <p:spPr>
          <a:xfrm xmlns:a="http://schemas.openxmlformats.org/drawingml/2006/main">
            <a:off x="3105150" y="3371850"/>
            <a:ext cx="26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1">
                <a:solidFill>
                  <a:srgbClr val="A8B5BD"/>
                </a:solidFill>
                <a:latin typeface="Aptos"/>
                <a:ea typeface="Aptos"/>
                <a:cs typeface="Aptos"/>
              </a:defRPr>
            </a:pPr>
            <a:r>
              <a:rPr sz="2550" b="1">
                <a:solidFill>
                  <a:srgbClr val="A8B5BD"/>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21F2F69F-A702-4131-A81A-B2E906A6BAB0}"/>
              </a:ext>
            </a:extLst>
          </p:cNvPr>
          <p:cNvSpPr>
            <a:spLocks xmlns:a="http://schemas.openxmlformats.org/drawingml/2006/main" noGrp="1"/>
          </p:cNvSpPr>
          <p:nvPr/>
        </p:nvSpPr>
        <p:spPr>
          <a:xfrm xmlns:a="http://schemas.openxmlformats.org/drawingml/2006/main">
            <a:off x="3543300" y="2743200"/>
            <a:ext cx="2238375" cy="1809750"/>
          </a:xfrm>
          <a:prstGeom xmlns:a="http://schemas.openxmlformats.org/drawingml/2006/main" prst="roundRect">
            <a:avLst>
              <a:gd name="adj" fmla="val 6316"/>
            </a:avLst>
          </a:prstGeom>
          <a:solidFill xmlns:a="http://schemas.openxmlformats.org/drawingml/2006/main">
            <a:srgbClr val="151E24"/>
          </a:solidFill>
          <a:ln xmlns:a="http://schemas.openxmlformats.org/drawingml/2006/main" w="11906">
            <a:solidFill>
              <a:srgbClr val="00E59B"/>
            </a:solidFill>
            <a:prstDash val="solid"/>
          </a:ln>
        </p:spPr>
      </p:sp>
      <p:sp>
        <p:nvSpPr>
          <p:cNvPr id="11" name="">
            <a:extLst xmlns:a="http://schemas.openxmlformats.org/drawingml/2006/main">
              <a:ext uri="{FF2B5EF4-FFF2-40B4-BE49-F238E27FC236}">
                <a16:creationId xmlns:a16="http://schemas.microsoft.com/office/drawing/2014/main" id="{8E2BAD3E-8F40-48B4-B81A-63DCD2E0C401}"/>
              </a:ext>
            </a:extLst>
          </p:cNvPr>
          <p:cNvSpPr>
            <a:spLocks xmlns:a="http://schemas.openxmlformats.org/drawingml/2006/main" noGrp="1"/>
          </p:cNvSpPr>
          <p:nvPr/>
        </p:nvSpPr>
        <p:spPr>
          <a:xfrm xmlns:a="http://schemas.openxmlformats.org/drawingml/2006/main">
            <a:off x="3733800" y="2990850"/>
            <a:ext cx="185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00E59B"/>
                </a:solidFill>
                <a:latin typeface="Aptos"/>
                <a:ea typeface="Aptos"/>
                <a:cs typeface="Aptos"/>
              </a:defRPr>
            </a:pPr>
            <a:r>
              <a:rPr sz="1800" b="1">
                <a:solidFill>
                  <a:srgbClr val="00E59B"/>
                </a:solidFill>
                <a:latin typeface="Aptos"/>
                <a:ea typeface="Aptos"/>
                <a:cs typeface="Aptos"/>
              </a:rPr>
              <a:t>PLAY</a:t>
            </a:r>
          </a:p>
        </p:txBody>
      </p:sp>
      <p:sp>
        <p:nvSpPr>
          <p:cNvPr id="12" name="">
            <a:extLst xmlns:a="http://schemas.openxmlformats.org/drawingml/2006/main">
              <a:ext uri="{FF2B5EF4-FFF2-40B4-BE49-F238E27FC236}">
                <a16:creationId xmlns:a16="http://schemas.microsoft.com/office/drawing/2014/main" id="{586FA2E7-AC59-414E-AA33-A3CEB1F4D9CC}"/>
              </a:ext>
            </a:extLst>
          </p:cNvPr>
          <p:cNvSpPr>
            <a:spLocks xmlns:a="http://schemas.openxmlformats.org/drawingml/2006/main" noGrp="1"/>
          </p:cNvSpPr>
          <p:nvPr/>
        </p:nvSpPr>
        <p:spPr>
          <a:xfrm xmlns:a="http://schemas.openxmlformats.org/drawingml/2006/main">
            <a:off x="3733800" y="3467100"/>
            <a:ext cx="1857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Authoritative game on console or PC</a:t>
            </a:r>
          </a:p>
        </p:txBody>
      </p:sp>
      <p:sp>
        <p:nvSpPr>
          <p:cNvPr id="13" name="">
            <a:extLst xmlns:a="http://schemas.openxmlformats.org/drawingml/2006/main">
              <a:ext uri="{FF2B5EF4-FFF2-40B4-BE49-F238E27FC236}">
                <a16:creationId xmlns:a16="http://schemas.microsoft.com/office/drawing/2014/main" id="{2FD6B9EB-5099-4B4F-951F-238EB2BF9E79}"/>
              </a:ext>
            </a:extLst>
          </p:cNvPr>
          <p:cNvSpPr>
            <a:spLocks xmlns:a="http://schemas.openxmlformats.org/drawingml/2006/main" noGrp="1"/>
          </p:cNvSpPr>
          <p:nvPr/>
        </p:nvSpPr>
        <p:spPr>
          <a:xfrm xmlns:a="http://schemas.openxmlformats.org/drawingml/2006/main">
            <a:off x="5781675" y="3619500"/>
            <a:ext cx="590550" cy="28575"/>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14" name="">
            <a:extLst xmlns:a="http://schemas.openxmlformats.org/drawingml/2006/main">
              <a:ext uri="{FF2B5EF4-FFF2-40B4-BE49-F238E27FC236}">
                <a16:creationId xmlns:a16="http://schemas.microsoft.com/office/drawing/2014/main" id="{CF406B06-0491-4921-9028-BEC76436D333}"/>
              </a:ext>
            </a:extLst>
          </p:cNvPr>
          <p:cNvSpPr>
            <a:spLocks xmlns:a="http://schemas.openxmlformats.org/drawingml/2006/main" noGrp="1"/>
          </p:cNvSpPr>
          <p:nvPr/>
        </p:nvSpPr>
        <p:spPr>
          <a:xfrm xmlns:a="http://schemas.openxmlformats.org/drawingml/2006/main">
            <a:off x="5934075" y="3371850"/>
            <a:ext cx="26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1">
                <a:solidFill>
                  <a:srgbClr val="A8B5BD"/>
                </a:solidFill>
                <a:latin typeface="Aptos"/>
                <a:ea typeface="Aptos"/>
                <a:cs typeface="Aptos"/>
              </a:defRPr>
            </a:pPr>
            <a:r>
              <a:rPr sz="2550" b="1">
                <a:solidFill>
                  <a:srgbClr val="A8B5BD"/>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7C149980-12E5-4722-8FE5-0F2EE60A57D2}"/>
              </a:ext>
            </a:extLst>
          </p:cNvPr>
          <p:cNvSpPr>
            <a:spLocks xmlns:a="http://schemas.openxmlformats.org/drawingml/2006/main" noGrp="1"/>
          </p:cNvSpPr>
          <p:nvPr/>
        </p:nvSpPr>
        <p:spPr>
          <a:xfrm xmlns:a="http://schemas.openxmlformats.org/drawingml/2006/main">
            <a:off x="6372225" y="2743200"/>
            <a:ext cx="2238375" cy="1809750"/>
          </a:xfrm>
          <a:prstGeom xmlns:a="http://schemas.openxmlformats.org/drawingml/2006/main" prst="roundRect">
            <a:avLst>
              <a:gd name="adj" fmla="val 6316"/>
            </a:avLst>
          </a:prstGeom>
          <a:solidFill xmlns:a="http://schemas.openxmlformats.org/drawingml/2006/main">
            <a:srgbClr val="151E24"/>
          </a:solidFill>
          <a:ln xmlns:a="http://schemas.openxmlformats.org/drawingml/2006/main" w="11906">
            <a:solidFill>
              <a:srgbClr val="F5B82E"/>
            </a:solidFill>
            <a:prstDash val="solid"/>
          </a:ln>
        </p:spPr>
      </p:sp>
      <p:sp>
        <p:nvSpPr>
          <p:cNvPr id="16" name="">
            <a:extLst xmlns:a="http://schemas.openxmlformats.org/drawingml/2006/main">
              <a:ext uri="{FF2B5EF4-FFF2-40B4-BE49-F238E27FC236}">
                <a16:creationId xmlns:a16="http://schemas.microsoft.com/office/drawing/2014/main" id="{BDB16AE9-479B-4A29-8B0D-BE1C130773CD}"/>
              </a:ext>
            </a:extLst>
          </p:cNvPr>
          <p:cNvSpPr>
            <a:spLocks xmlns:a="http://schemas.openxmlformats.org/drawingml/2006/main" noGrp="1"/>
          </p:cNvSpPr>
          <p:nvPr/>
        </p:nvSpPr>
        <p:spPr>
          <a:xfrm xmlns:a="http://schemas.openxmlformats.org/drawingml/2006/main">
            <a:off x="6562725" y="2990850"/>
            <a:ext cx="185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F5B82E"/>
                </a:solidFill>
                <a:latin typeface="Aptos"/>
                <a:ea typeface="Aptos"/>
                <a:cs typeface="Aptos"/>
              </a:defRPr>
            </a:pPr>
            <a:r>
              <a:rPr sz="1800" b="1">
                <a:solidFill>
                  <a:srgbClr val="F5B82E"/>
                </a:solidFill>
                <a:latin typeface="Aptos"/>
                <a:ea typeface="Aptos"/>
                <a:cs typeface="Aptos"/>
              </a:rPr>
              <a:t>SYNC</a:t>
            </a:r>
          </a:p>
        </p:txBody>
      </p:sp>
      <p:sp>
        <p:nvSpPr>
          <p:cNvPr id="17" name="">
            <a:extLst xmlns:a="http://schemas.openxmlformats.org/drawingml/2006/main">
              <a:ext uri="{FF2B5EF4-FFF2-40B4-BE49-F238E27FC236}">
                <a16:creationId xmlns:a16="http://schemas.microsoft.com/office/drawing/2014/main" id="{AD277E5C-B930-4F22-ACCD-92D3BA0303C7}"/>
              </a:ext>
            </a:extLst>
          </p:cNvPr>
          <p:cNvSpPr>
            <a:spLocks xmlns:a="http://schemas.openxmlformats.org/drawingml/2006/main" noGrp="1"/>
          </p:cNvSpPr>
          <p:nvPr/>
        </p:nvSpPr>
        <p:spPr>
          <a:xfrm xmlns:a="http://schemas.openxmlformats.org/drawingml/2006/main">
            <a:off x="6562725" y="3467100"/>
            <a:ext cx="1857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Results, box scores, standings, injuries</a:t>
            </a:r>
          </a:p>
        </p:txBody>
      </p:sp>
      <p:sp>
        <p:nvSpPr>
          <p:cNvPr id="18" name="">
            <a:extLst xmlns:a="http://schemas.openxmlformats.org/drawingml/2006/main">
              <a:ext uri="{FF2B5EF4-FFF2-40B4-BE49-F238E27FC236}">
                <a16:creationId xmlns:a16="http://schemas.microsoft.com/office/drawing/2014/main" id="{3ECB7B45-0CF0-46CD-B264-6A97159B7A9D}"/>
              </a:ext>
            </a:extLst>
          </p:cNvPr>
          <p:cNvSpPr>
            <a:spLocks xmlns:a="http://schemas.openxmlformats.org/drawingml/2006/main" noGrp="1"/>
          </p:cNvSpPr>
          <p:nvPr/>
        </p:nvSpPr>
        <p:spPr>
          <a:xfrm xmlns:a="http://schemas.openxmlformats.org/drawingml/2006/main">
            <a:off x="8610600" y="3619500"/>
            <a:ext cx="590550" cy="28575"/>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19" name="">
            <a:extLst xmlns:a="http://schemas.openxmlformats.org/drawingml/2006/main">
              <a:ext uri="{FF2B5EF4-FFF2-40B4-BE49-F238E27FC236}">
                <a16:creationId xmlns:a16="http://schemas.microsoft.com/office/drawing/2014/main" id="{6D640862-6F7C-49D6-9191-0D5E6397C3C2}"/>
              </a:ext>
            </a:extLst>
          </p:cNvPr>
          <p:cNvSpPr>
            <a:spLocks xmlns:a="http://schemas.openxmlformats.org/drawingml/2006/main" noGrp="1"/>
          </p:cNvSpPr>
          <p:nvPr/>
        </p:nvSpPr>
        <p:spPr>
          <a:xfrm xmlns:a="http://schemas.openxmlformats.org/drawingml/2006/main">
            <a:off x="8763000" y="3371850"/>
            <a:ext cx="26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1">
                <a:solidFill>
                  <a:srgbClr val="A8B5BD"/>
                </a:solidFill>
                <a:latin typeface="Aptos"/>
                <a:ea typeface="Aptos"/>
                <a:cs typeface="Aptos"/>
              </a:defRPr>
            </a:pPr>
            <a:r>
              <a:rPr sz="2550" b="1">
                <a:solidFill>
                  <a:srgbClr val="A8B5BD"/>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5C32430D-6363-4402-BA40-A2AC796D3E05}"/>
              </a:ext>
            </a:extLst>
          </p:cNvPr>
          <p:cNvSpPr>
            <a:spLocks xmlns:a="http://schemas.openxmlformats.org/drawingml/2006/main" noGrp="1"/>
          </p:cNvSpPr>
          <p:nvPr/>
        </p:nvSpPr>
        <p:spPr>
          <a:xfrm xmlns:a="http://schemas.openxmlformats.org/drawingml/2006/main">
            <a:off x="9201150" y="2743200"/>
            <a:ext cx="2238375" cy="1809750"/>
          </a:xfrm>
          <a:prstGeom xmlns:a="http://schemas.openxmlformats.org/drawingml/2006/main" prst="roundRect">
            <a:avLst>
              <a:gd name="adj" fmla="val 6316"/>
            </a:avLst>
          </a:prstGeom>
          <a:solidFill xmlns:a="http://schemas.openxmlformats.org/drawingml/2006/main">
            <a:srgbClr val="151E24"/>
          </a:solidFill>
          <a:ln xmlns:a="http://schemas.openxmlformats.org/drawingml/2006/main" w="11906">
            <a:solidFill>
              <a:srgbClr val="FF5D73"/>
            </a:solidFill>
            <a:prstDash val="solid"/>
          </a:ln>
        </p:spPr>
      </p:sp>
      <p:sp>
        <p:nvSpPr>
          <p:cNvPr id="21" name="">
            <a:extLst xmlns:a="http://schemas.openxmlformats.org/drawingml/2006/main">
              <a:ext uri="{FF2B5EF4-FFF2-40B4-BE49-F238E27FC236}">
                <a16:creationId xmlns:a16="http://schemas.microsoft.com/office/drawing/2014/main" id="{4532CB97-3C55-4BFE-BB8B-B6F3627A863A}"/>
              </a:ext>
            </a:extLst>
          </p:cNvPr>
          <p:cNvSpPr>
            <a:spLocks xmlns:a="http://schemas.openxmlformats.org/drawingml/2006/main" noGrp="1"/>
          </p:cNvSpPr>
          <p:nvPr/>
        </p:nvSpPr>
        <p:spPr>
          <a:xfrm xmlns:a="http://schemas.openxmlformats.org/drawingml/2006/main">
            <a:off x="9391650" y="2990850"/>
            <a:ext cx="1857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FF5D73"/>
                </a:solidFill>
                <a:latin typeface="Aptos"/>
                <a:ea typeface="Aptos"/>
                <a:cs typeface="Aptos"/>
              </a:defRPr>
            </a:pPr>
            <a:r>
              <a:rPr sz="1800" b="1">
                <a:solidFill>
                  <a:srgbClr val="FF5D73"/>
                </a:solidFill>
                <a:latin typeface="Aptos"/>
                <a:ea typeface="Aptos"/>
                <a:cs typeface="Aptos"/>
              </a:rPr>
              <a:t>REACT</a:t>
            </a:r>
          </a:p>
        </p:txBody>
      </p:sp>
      <p:sp>
        <p:nvSpPr>
          <p:cNvPr id="22" name="">
            <a:extLst xmlns:a="http://schemas.openxmlformats.org/drawingml/2006/main">
              <a:ext uri="{FF2B5EF4-FFF2-40B4-BE49-F238E27FC236}">
                <a16:creationId xmlns:a16="http://schemas.microsoft.com/office/drawing/2014/main" id="{83B0818B-39F4-4749-8BFC-D5330335FEF7}"/>
              </a:ext>
            </a:extLst>
          </p:cNvPr>
          <p:cNvSpPr>
            <a:spLocks xmlns:a="http://schemas.openxmlformats.org/drawingml/2006/main" noGrp="1"/>
          </p:cNvSpPr>
          <p:nvPr/>
        </p:nvSpPr>
        <p:spPr>
          <a:xfrm xmlns:a="http://schemas.openxmlformats.org/drawingml/2006/main">
            <a:off x="9391650" y="3467100"/>
            <a:ext cx="1857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News, chat, votes, next decisions</a:t>
            </a:r>
          </a:p>
        </p:txBody>
      </p:sp>
      <p:sp>
        <p:nvSpPr>
          <p:cNvPr id="23" name="">
            <a:extLst xmlns:a="http://schemas.openxmlformats.org/drawingml/2006/main">
              <a:ext uri="{FF2B5EF4-FFF2-40B4-BE49-F238E27FC236}">
                <a16:creationId xmlns:a16="http://schemas.microsoft.com/office/drawing/2014/main" id="{25D3C1A2-D310-4999-9701-EF75672140E2}"/>
              </a:ext>
            </a:extLst>
          </p:cNvPr>
          <p:cNvSpPr>
            <a:spLocks xmlns:a="http://schemas.openxmlformats.org/drawingml/2006/main" noGrp="1"/>
          </p:cNvSpPr>
          <p:nvPr/>
        </p:nvSpPr>
        <p:spPr>
          <a:xfrm xmlns:a="http://schemas.openxmlformats.org/drawingml/2006/main">
            <a:off x="1524000" y="5143500"/>
            <a:ext cx="914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748"/>
          </a:bodyPr>
          <a:lstStyle xmlns:a="http://schemas.openxmlformats.org/drawingml/2006/main"/>
          <a:p xmlns:a="http://schemas.openxmlformats.org/drawingml/2006/main">
            <a:pPr algn="ctr">
              <a:defRPr sz="2100" b="1">
                <a:solidFill>
                  <a:srgbClr val="F7FAFC"/>
                </a:solidFill>
                <a:latin typeface="Aptos"/>
                <a:ea typeface="Aptos"/>
                <a:cs typeface="Aptos"/>
              </a:defRPr>
            </a:pPr>
            <a:r>
              <a:rPr sz="2100" b="1">
                <a:solidFill>
                  <a:srgbClr val="F7FAFC"/>
                </a:solidFill>
                <a:latin typeface="Aptos"/>
                <a:ea typeface="Aptos"/>
                <a:cs typeface="Aptos"/>
              </a:rPr>
              <a:t>The next console session begins before the previous league conversation ends.</a:t>
            </a:r>
          </a:p>
        </p:txBody>
      </p:sp>
      <p:sp>
        <p:nvSpPr>
          <p:cNvPr id="24" name="">
            <a:extLst xmlns:a="http://schemas.openxmlformats.org/drawingml/2006/main">
              <a:ext uri="{FF2B5EF4-FFF2-40B4-BE49-F238E27FC236}">
                <a16:creationId xmlns:a16="http://schemas.microsoft.com/office/drawing/2014/main" id="{CEB5D153-922E-4B4E-BE75-90E628754E62}"/>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25" name="">
            <a:extLst xmlns:a="http://schemas.openxmlformats.org/drawingml/2006/main">
              <a:ext uri="{FF2B5EF4-FFF2-40B4-BE49-F238E27FC236}">
                <a16:creationId xmlns:a16="http://schemas.microsoft.com/office/drawing/2014/main" id="{9AE6A1B3-404C-436F-8EEE-E7CD8B89BED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03</a:t>
            </a:r>
          </a:p>
        </p:txBody>
      </p:sp>
    </p:spTree>
    <p:extLst>
      <p:ext uri="{BB962C8B-B14F-4D97-AF65-F5344CB8AC3E}">
        <p14:creationId xmlns:p14="http://schemas.microsoft.com/office/powerpoint/2010/main" val="2110911649"/>
      </p:ext>
    </p:extLst>
  </p:cSld>
</p:sld>
</file>

<file path=ppt/slides/slide4.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50ABDFED-8719-4B34-BB29-7A89E1D1EF1D}"/>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WORKING PROOF</a:t>
            </a:r>
          </a:p>
        </p:txBody>
      </p:sp>
      <p:sp>
        <p:nvSpPr>
          <p:cNvPr id="2" name="">
            <a:extLst xmlns:a="http://schemas.openxmlformats.org/drawingml/2006/main">
              <a:ext uri="{FF2B5EF4-FFF2-40B4-BE49-F238E27FC236}">
                <a16:creationId xmlns:a16="http://schemas.microsoft.com/office/drawing/2014/main" id="{9E27B2FF-E031-4E5F-BE14-759304768C3D}"/>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The league operating layer already exists.</a:t>
            </a:r>
          </a:p>
        </p:txBody>
      </p:sp>
      <p:sp>
        <p:nvSpPr>
          <p:cNvPr id="3" name="">
            <a:extLst xmlns:a="http://schemas.openxmlformats.org/drawingml/2006/main">
              <a:ext uri="{FF2B5EF4-FFF2-40B4-BE49-F238E27FC236}">
                <a16:creationId xmlns:a16="http://schemas.microsoft.com/office/drawing/2014/main" id="{7E8E8AE9-0F3E-437D-BD06-9FD05BA8EB96}"/>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The pitch demo is isolated, seeded, and designed to show a complete franchise-management loop.</a:t>
            </a:r>
          </a:p>
        </p:txBody>
      </p:sp>
      <p:sp>
        <p:nvSpPr>
          <p:cNvPr id="4" name="">
            <a:extLst xmlns:a="http://schemas.openxmlformats.org/drawingml/2006/main">
              <a:ext uri="{FF2B5EF4-FFF2-40B4-BE49-F238E27FC236}">
                <a16:creationId xmlns:a16="http://schemas.microsoft.com/office/drawing/2014/main" id="{C9AF4EC2-6E0D-4BB1-8BEE-DFF32BDBE87E}"/>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927D6093-B8D5-4480-A619-9D2824A96E03}"/>
              </a:ext>
            </a:extLst>
          </p:cNvPr>
          <p:cNvSpPr>
            <a:spLocks xmlns:a="http://schemas.openxmlformats.org/drawingml/2006/main" noGrp="1"/>
          </p:cNvSpPr>
          <p:nvPr/>
        </p:nvSpPr>
        <p:spPr>
          <a:xfrm xmlns:a="http://schemas.openxmlformats.org/drawingml/2006/main">
            <a:off x="685800" y="2286000"/>
            <a:ext cx="2362200" cy="1257300"/>
          </a:xfrm>
          <a:prstGeom xmlns:a="http://schemas.openxmlformats.org/drawingml/2006/main" prst="roundRect">
            <a:avLst>
              <a:gd name="adj" fmla="val 9091"/>
            </a:avLst>
          </a:prstGeom>
          <a:solidFill xmlns:a="http://schemas.openxmlformats.org/drawingml/2006/main">
            <a:srgbClr val="151E24"/>
          </a:solidFill>
          <a:ln xmlns:a="http://schemas.openxmlformats.org/drawingml/2006/main" w="11906">
            <a:solidFill>
              <a:srgbClr val="00E59B"/>
            </a:solidFill>
            <a:prstDash val="solid"/>
          </a:ln>
        </p:spPr>
      </p:sp>
      <p:sp>
        <p:nvSpPr>
          <p:cNvPr id="6" name="">
            <a:extLst xmlns:a="http://schemas.openxmlformats.org/drawingml/2006/main">
              <a:ext uri="{FF2B5EF4-FFF2-40B4-BE49-F238E27FC236}">
                <a16:creationId xmlns:a16="http://schemas.microsoft.com/office/drawing/2014/main" id="{0AD3ED91-BDE1-42C5-B033-F6F59C2452F6}"/>
              </a:ext>
            </a:extLst>
          </p:cNvPr>
          <p:cNvSpPr>
            <a:spLocks xmlns:a="http://schemas.openxmlformats.org/drawingml/2006/main" noGrp="1"/>
          </p:cNvSpPr>
          <p:nvPr/>
        </p:nvSpPr>
        <p:spPr>
          <a:xfrm xmlns:a="http://schemas.openxmlformats.org/drawingml/2006/main">
            <a:off x="857250" y="245745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00E59B"/>
                </a:solidFill>
                <a:latin typeface="Aptos"/>
                <a:ea typeface="Aptos"/>
                <a:cs typeface="Aptos"/>
              </a:defRPr>
            </a:pPr>
            <a:r>
              <a:rPr sz="2850" b="1">
                <a:solidFill>
                  <a:srgbClr val="00E59B"/>
                </a:solidFill>
                <a:latin typeface="Aptos"/>
                <a:ea typeface="Aptos"/>
                <a:cs typeface="Aptos"/>
              </a:rPr>
              <a:t>30</a:t>
            </a:r>
          </a:p>
        </p:txBody>
      </p:sp>
      <p:sp>
        <p:nvSpPr>
          <p:cNvPr id="7" name="">
            <a:extLst xmlns:a="http://schemas.openxmlformats.org/drawingml/2006/main">
              <a:ext uri="{FF2B5EF4-FFF2-40B4-BE49-F238E27FC236}">
                <a16:creationId xmlns:a16="http://schemas.microsoft.com/office/drawing/2014/main" id="{E466E6D9-EB7C-470B-867B-472C8F1E446B}"/>
              </a:ext>
            </a:extLst>
          </p:cNvPr>
          <p:cNvSpPr>
            <a:spLocks xmlns:a="http://schemas.openxmlformats.org/drawingml/2006/main" noGrp="1"/>
          </p:cNvSpPr>
          <p:nvPr/>
        </p:nvSpPr>
        <p:spPr>
          <a:xfrm xmlns:a="http://schemas.openxmlformats.org/drawingml/2006/main">
            <a:off x="857250" y="30289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A8B5BD"/>
                </a:solidFill>
                <a:latin typeface="Aptos"/>
                <a:ea typeface="Aptos"/>
                <a:cs typeface="Aptos"/>
              </a:defRPr>
            </a:pPr>
            <a:r>
              <a:rPr sz="1125" b="1">
                <a:solidFill>
                  <a:srgbClr val="A8B5BD"/>
                </a:solidFill>
                <a:latin typeface="Aptos"/>
                <a:ea typeface="Aptos"/>
                <a:cs typeface="Aptos"/>
              </a:rPr>
              <a:t>CPU-READY FRANCHISES</a:t>
            </a:r>
          </a:p>
        </p:txBody>
      </p:sp>
      <p:sp>
        <p:nvSpPr>
          <p:cNvPr id="8" name="">
            <a:extLst xmlns:a="http://schemas.openxmlformats.org/drawingml/2006/main">
              <a:ext uri="{FF2B5EF4-FFF2-40B4-BE49-F238E27FC236}">
                <a16:creationId xmlns:a16="http://schemas.microsoft.com/office/drawing/2014/main" id="{24797712-A5DE-4477-8012-625482D591AC}"/>
              </a:ext>
            </a:extLst>
          </p:cNvPr>
          <p:cNvSpPr>
            <a:spLocks xmlns:a="http://schemas.openxmlformats.org/drawingml/2006/main" noGrp="1"/>
          </p:cNvSpPr>
          <p:nvPr/>
        </p:nvSpPr>
        <p:spPr>
          <a:xfrm xmlns:a="http://schemas.openxmlformats.org/drawingml/2006/main">
            <a:off x="3219450" y="2286000"/>
            <a:ext cx="2362200" cy="1257300"/>
          </a:xfrm>
          <a:prstGeom xmlns:a="http://schemas.openxmlformats.org/drawingml/2006/main" prst="roundRect">
            <a:avLst>
              <a:gd name="adj" fmla="val 9091"/>
            </a:avLst>
          </a:prstGeom>
          <a:solidFill xmlns:a="http://schemas.openxmlformats.org/drawingml/2006/main">
            <a:srgbClr val="151E24"/>
          </a:solidFill>
          <a:ln xmlns:a="http://schemas.openxmlformats.org/drawingml/2006/main" w="11906">
            <a:solidFill>
              <a:srgbClr val="35C7F0"/>
            </a:solidFill>
            <a:prstDash val="solid"/>
          </a:ln>
        </p:spPr>
      </p:sp>
      <p:sp>
        <p:nvSpPr>
          <p:cNvPr id="9" name="">
            <a:extLst xmlns:a="http://schemas.openxmlformats.org/drawingml/2006/main">
              <a:ext uri="{FF2B5EF4-FFF2-40B4-BE49-F238E27FC236}">
                <a16:creationId xmlns:a16="http://schemas.microsoft.com/office/drawing/2014/main" id="{42E41F6D-641B-4C14-B473-7E98C4FDB9B9}"/>
              </a:ext>
            </a:extLst>
          </p:cNvPr>
          <p:cNvSpPr>
            <a:spLocks xmlns:a="http://schemas.openxmlformats.org/drawingml/2006/main" noGrp="1"/>
          </p:cNvSpPr>
          <p:nvPr/>
        </p:nvSpPr>
        <p:spPr>
          <a:xfrm xmlns:a="http://schemas.openxmlformats.org/drawingml/2006/main">
            <a:off x="3390900" y="245745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35C7F0"/>
                </a:solidFill>
                <a:latin typeface="Aptos"/>
                <a:ea typeface="Aptos"/>
                <a:cs typeface="Aptos"/>
              </a:defRPr>
            </a:pPr>
            <a:r>
              <a:rPr sz="2850" b="1">
                <a:solidFill>
                  <a:srgbClr val="35C7F0"/>
                </a:solidFill>
                <a:latin typeface="Aptos"/>
                <a:ea typeface="Aptos"/>
                <a:cs typeface="Aptos"/>
              </a:rPr>
              <a:t>530</a:t>
            </a:r>
          </a:p>
        </p:txBody>
      </p:sp>
      <p:sp>
        <p:nvSpPr>
          <p:cNvPr id="10" name="">
            <a:extLst xmlns:a="http://schemas.openxmlformats.org/drawingml/2006/main">
              <a:ext uri="{FF2B5EF4-FFF2-40B4-BE49-F238E27FC236}">
                <a16:creationId xmlns:a16="http://schemas.microsoft.com/office/drawing/2014/main" id="{4E843578-091A-42B1-AF3D-B558EB3A2477}"/>
              </a:ext>
            </a:extLst>
          </p:cNvPr>
          <p:cNvSpPr>
            <a:spLocks xmlns:a="http://schemas.openxmlformats.org/drawingml/2006/main" noGrp="1"/>
          </p:cNvSpPr>
          <p:nvPr/>
        </p:nvSpPr>
        <p:spPr>
          <a:xfrm xmlns:a="http://schemas.openxmlformats.org/drawingml/2006/main">
            <a:off x="3390900" y="30289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A8B5BD"/>
                </a:solidFill>
                <a:latin typeface="Aptos"/>
                <a:ea typeface="Aptos"/>
                <a:cs typeface="Aptos"/>
              </a:defRPr>
            </a:pPr>
            <a:r>
              <a:rPr sz="1125" b="1">
                <a:solidFill>
                  <a:srgbClr val="A8B5BD"/>
                </a:solidFill>
                <a:latin typeface="Aptos"/>
                <a:ea typeface="Aptos"/>
                <a:cs typeface="Aptos"/>
              </a:rPr>
              <a:t>ROSTERED PLAYERS</a:t>
            </a:r>
          </a:p>
        </p:txBody>
      </p:sp>
      <p:sp>
        <p:nvSpPr>
          <p:cNvPr id="11" name="">
            <a:extLst xmlns:a="http://schemas.openxmlformats.org/drawingml/2006/main">
              <a:ext uri="{FF2B5EF4-FFF2-40B4-BE49-F238E27FC236}">
                <a16:creationId xmlns:a16="http://schemas.microsoft.com/office/drawing/2014/main" id="{7552CDF7-9FB4-4B32-8F86-623DD3496B80}"/>
              </a:ext>
            </a:extLst>
          </p:cNvPr>
          <p:cNvSpPr>
            <a:spLocks xmlns:a="http://schemas.openxmlformats.org/drawingml/2006/main" noGrp="1"/>
          </p:cNvSpPr>
          <p:nvPr/>
        </p:nvSpPr>
        <p:spPr>
          <a:xfrm xmlns:a="http://schemas.openxmlformats.org/drawingml/2006/main">
            <a:off x="5753100" y="2286000"/>
            <a:ext cx="2362200" cy="1257300"/>
          </a:xfrm>
          <a:prstGeom xmlns:a="http://schemas.openxmlformats.org/drawingml/2006/main" prst="roundRect">
            <a:avLst>
              <a:gd name="adj" fmla="val 9091"/>
            </a:avLst>
          </a:prstGeom>
          <a:solidFill xmlns:a="http://schemas.openxmlformats.org/drawingml/2006/main">
            <a:srgbClr val="151E24"/>
          </a:solidFill>
          <a:ln xmlns:a="http://schemas.openxmlformats.org/drawingml/2006/main" w="11906">
            <a:solidFill>
              <a:srgbClr val="F5B82E"/>
            </a:solidFill>
            <a:prstDash val="solid"/>
          </a:ln>
        </p:spPr>
      </p:sp>
      <p:sp>
        <p:nvSpPr>
          <p:cNvPr id="12" name="">
            <a:extLst xmlns:a="http://schemas.openxmlformats.org/drawingml/2006/main">
              <a:ext uri="{FF2B5EF4-FFF2-40B4-BE49-F238E27FC236}">
                <a16:creationId xmlns:a16="http://schemas.microsoft.com/office/drawing/2014/main" id="{A0D82F64-15DD-421A-839F-B9BDEA4792AE}"/>
              </a:ext>
            </a:extLst>
          </p:cNvPr>
          <p:cNvSpPr>
            <a:spLocks xmlns:a="http://schemas.openxmlformats.org/drawingml/2006/main" noGrp="1"/>
          </p:cNvSpPr>
          <p:nvPr/>
        </p:nvSpPr>
        <p:spPr>
          <a:xfrm xmlns:a="http://schemas.openxmlformats.org/drawingml/2006/main">
            <a:off x="5924550" y="245745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5B82E"/>
                </a:solidFill>
                <a:latin typeface="Aptos"/>
                <a:ea typeface="Aptos"/>
                <a:cs typeface="Aptos"/>
              </a:defRPr>
            </a:pPr>
            <a:r>
              <a:rPr sz="2850" b="1">
                <a:solidFill>
                  <a:srgbClr val="F5B82E"/>
                </a:solidFill>
                <a:latin typeface="Aptos"/>
                <a:ea typeface="Aptos"/>
                <a:cs typeface="Aptos"/>
              </a:rPr>
              <a:t>1,230</a:t>
            </a:r>
          </a:p>
        </p:txBody>
      </p:sp>
      <p:sp>
        <p:nvSpPr>
          <p:cNvPr id="13" name="">
            <a:extLst xmlns:a="http://schemas.openxmlformats.org/drawingml/2006/main">
              <a:ext uri="{FF2B5EF4-FFF2-40B4-BE49-F238E27FC236}">
                <a16:creationId xmlns:a16="http://schemas.microsoft.com/office/drawing/2014/main" id="{942601DF-2A97-4F21-9126-CACA57D6D85C}"/>
              </a:ext>
            </a:extLst>
          </p:cNvPr>
          <p:cNvSpPr>
            <a:spLocks xmlns:a="http://schemas.openxmlformats.org/drawingml/2006/main" noGrp="1"/>
          </p:cNvSpPr>
          <p:nvPr/>
        </p:nvSpPr>
        <p:spPr>
          <a:xfrm xmlns:a="http://schemas.openxmlformats.org/drawingml/2006/main">
            <a:off x="5924550" y="30289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A8B5BD"/>
                </a:solidFill>
                <a:latin typeface="Aptos"/>
                <a:ea typeface="Aptos"/>
                <a:cs typeface="Aptos"/>
              </a:defRPr>
            </a:pPr>
            <a:r>
              <a:rPr sz="1125" b="1">
                <a:solidFill>
                  <a:srgbClr val="A8B5BD"/>
                </a:solidFill>
                <a:latin typeface="Aptos"/>
                <a:ea typeface="Aptos"/>
                <a:cs typeface="Aptos"/>
              </a:rPr>
              <a:t>GAME SCHEDULE</a:t>
            </a:r>
          </a:p>
        </p:txBody>
      </p:sp>
      <p:sp>
        <p:nvSpPr>
          <p:cNvPr id="14" name="">
            <a:extLst xmlns:a="http://schemas.openxmlformats.org/drawingml/2006/main">
              <a:ext uri="{FF2B5EF4-FFF2-40B4-BE49-F238E27FC236}">
                <a16:creationId xmlns:a16="http://schemas.microsoft.com/office/drawing/2014/main" id="{AAEE8DB3-22C6-40FA-8901-499B42D71CD4}"/>
              </a:ext>
            </a:extLst>
          </p:cNvPr>
          <p:cNvSpPr>
            <a:spLocks xmlns:a="http://schemas.openxmlformats.org/drawingml/2006/main" noGrp="1"/>
          </p:cNvSpPr>
          <p:nvPr/>
        </p:nvSpPr>
        <p:spPr>
          <a:xfrm xmlns:a="http://schemas.openxmlformats.org/drawingml/2006/main">
            <a:off x="8286750" y="2286000"/>
            <a:ext cx="3219450" cy="1257300"/>
          </a:xfrm>
          <a:prstGeom xmlns:a="http://schemas.openxmlformats.org/drawingml/2006/main" prst="roundRect">
            <a:avLst>
              <a:gd name="adj" fmla="val 9091"/>
            </a:avLst>
          </a:prstGeom>
          <a:solidFill xmlns:a="http://schemas.openxmlformats.org/drawingml/2006/main">
            <a:srgbClr val="151E24"/>
          </a:solidFill>
          <a:ln xmlns:a="http://schemas.openxmlformats.org/drawingml/2006/main" w="11906">
            <a:solidFill>
              <a:srgbClr val="FF5D73"/>
            </a:solidFill>
            <a:prstDash val="solid"/>
          </a:ln>
        </p:spPr>
      </p:sp>
      <p:sp>
        <p:nvSpPr>
          <p:cNvPr id="15" name="">
            <a:extLst xmlns:a="http://schemas.openxmlformats.org/drawingml/2006/main">
              <a:ext uri="{FF2B5EF4-FFF2-40B4-BE49-F238E27FC236}">
                <a16:creationId xmlns:a16="http://schemas.microsoft.com/office/drawing/2014/main" id="{D2A86BD3-3012-4483-AA20-2A58334DF085}"/>
              </a:ext>
            </a:extLst>
          </p:cNvPr>
          <p:cNvSpPr>
            <a:spLocks xmlns:a="http://schemas.openxmlformats.org/drawingml/2006/main" noGrp="1"/>
          </p:cNvSpPr>
          <p:nvPr/>
        </p:nvSpPr>
        <p:spPr>
          <a:xfrm xmlns:a="http://schemas.openxmlformats.org/drawingml/2006/main">
            <a:off x="8458200" y="24574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F5D73"/>
                </a:solidFill>
                <a:latin typeface="Aptos"/>
                <a:ea typeface="Aptos"/>
                <a:cs typeface="Aptos"/>
              </a:defRPr>
            </a:pPr>
            <a:r>
              <a:rPr sz="2850" b="1">
                <a:solidFill>
                  <a:srgbClr val="FF5D73"/>
                </a:solidFill>
                <a:latin typeface="Aptos"/>
                <a:ea typeface="Aptos"/>
                <a:cs typeface="Aptos"/>
              </a:rPr>
              <a:t>12</a:t>
            </a:r>
          </a:p>
        </p:txBody>
      </p:sp>
      <p:sp>
        <p:nvSpPr>
          <p:cNvPr id="16" name="">
            <a:extLst xmlns:a="http://schemas.openxmlformats.org/drawingml/2006/main">
              <a:ext uri="{FF2B5EF4-FFF2-40B4-BE49-F238E27FC236}">
                <a16:creationId xmlns:a16="http://schemas.microsoft.com/office/drawing/2014/main" id="{40CC89CE-6226-43F3-A88C-253808AD0FAE}"/>
              </a:ext>
            </a:extLst>
          </p:cNvPr>
          <p:cNvSpPr>
            <a:spLocks xmlns:a="http://schemas.openxmlformats.org/drawingml/2006/main" noGrp="1"/>
          </p:cNvSpPr>
          <p:nvPr/>
        </p:nvSpPr>
        <p:spPr>
          <a:xfrm xmlns:a="http://schemas.openxmlformats.org/drawingml/2006/main">
            <a:off x="8458200" y="3028950"/>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A8B5BD"/>
                </a:solidFill>
                <a:latin typeface="Aptos"/>
                <a:ea typeface="Aptos"/>
                <a:cs typeface="Aptos"/>
              </a:defRPr>
            </a:pPr>
            <a:r>
              <a:rPr sz="1125" b="1">
                <a:solidFill>
                  <a:srgbClr val="A8B5BD"/>
                </a:solidFill>
                <a:latin typeface="Aptos"/>
                <a:ea typeface="Aptos"/>
                <a:cs typeface="Aptos"/>
              </a:rPr>
              <a:t>SEEDED SHOWCASE GAMES</a:t>
            </a:r>
          </a:p>
        </p:txBody>
      </p:sp>
      <p:sp>
        <p:nvSpPr>
          <p:cNvPr id="17" name="">
            <a:extLst xmlns:a="http://schemas.openxmlformats.org/drawingml/2006/main">
              <a:ext uri="{FF2B5EF4-FFF2-40B4-BE49-F238E27FC236}">
                <a16:creationId xmlns:a16="http://schemas.microsoft.com/office/drawing/2014/main" id="{7878BBA1-FE6E-4EFE-B4C9-C81B93B2F377}"/>
              </a:ext>
            </a:extLst>
          </p:cNvPr>
          <p:cNvSpPr>
            <a:spLocks xmlns:a="http://schemas.openxmlformats.org/drawingml/2006/main" noGrp="1"/>
          </p:cNvSpPr>
          <p:nvPr/>
        </p:nvSpPr>
        <p:spPr>
          <a:xfrm xmlns:a="http://schemas.openxmlformats.org/drawingml/2006/main">
            <a:off x="685800" y="40005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F7FAFC"/>
                </a:solidFill>
                <a:latin typeface="Aptos"/>
                <a:ea typeface="Aptos"/>
                <a:cs typeface="Aptos"/>
              </a:defRPr>
            </a:pPr>
            <a:r>
              <a:rPr sz="1650" b="1">
                <a:solidFill>
                  <a:srgbClr val="F7FAFC"/>
                </a:solidFill>
                <a:latin typeface="Aptos"/>
                <a:ea typeface="Aptos"/>
                <a:cs typeface="Aptos"/>
              </a:rPr>
              <a:t>Prototype systems demonstrated</a:t>
            </a:r>
          </a:p>
        </p:txBody>
      </p:sp>
      <p:sp>
        <p:nvSpPr>
          <p:cNvPr id="18" name="">
            <a:extLst xmlns:a="http://schemas.openxmlformats.org/drawingml/2006/main">
              <a:ext uri="{FF2B5EF4-FFF2-40B4-BE49-F238E27FC236}">
                <a16:creationId xmlns:a16="http://schemas.microsoft.com/office/drawing/2014/main" id="{6030CE0F-3875-4839-A784-799D5F96ED6C}"/>
              </a:ext>
            </a:extLst>
          </p:cNvPr>
          <p:cNvSpPr>
            <a:spLocks xmlns:a="http://schemas.openxmlformats.org/drawingml/2006/main" noGrp="1"/>
          </p:cNvSpPr>
          <p:nvPr/>
        </p:nvSpPr>
        <p:spPr>
          <a:xfrm xmlns:a="http://schemas.openxmlformats.org/drawingml/2006/main">
            <a:off x="685800" y="4514850"/>
            <a:ext cx="18097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00E59B"/>
            </a:solidFill>
            <a:prstDash val="solid"/>
          </a:ln>
        </p:spPr>
      </p:sp>
      <p:sp>
        <p:nvSpPr>
          <p:cNvPr id="19" name="">
            <a:extLst xmlns:a="http://schemas.openxmlformats.org/drawingml/2006/main">
              <a:ext uri="{FF2B5EF4-FFF2-40B4-BE49-F238E27FC236}">
                <a16:creationId xmlns:a16="http://schemas.microsoft.com/office/drawing/2014/main" id="{FEA37489-AB2C-4B9A-851D-8604BE242775}"/>
              </a:ext>
            </a:extLst>
          </p:cNvPr>
          <p:cNvSpPr>
            <a:spLocks xmlns:a="http://schemas.openxmlformats.org/drawingml/2006/main" noGrp="1"/>
          </p:cNvSpPr>
          <p:nvPr/>
        </p:nvSpPr>
        <p:spPr>
          <a:xfrm xmlns:a="http://schemas.openxmlformats.org/drawingml/2006/main">
            <a:off x="781050" y="4533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E59B"/>
                </a:solidFill>
                <a:latin typeface="Aptos"/>
                <a:ea typeface="Aptos"/>
                <a:cs typeface="Aptos"/>
              </a:defRPr>
            </a:pPr>
            <a:r>
              <a:rPr sz="1050" b="1">
                <a:solidFill>
                  <a:srgbClr val="00E59B"/>
                </a:solidFill>
                <a:latin typeface="Aptos"/>
                <a:ea typeface="Aptos"/>
                <a:cs typeface="Aptos"/>
              </a:rPr>
              <a:t>Commissioner tools</a:t>
            </a:r>
          </a:p>
        </p:txBody>
      </p:sp>
      <p:sp>
        <p:nvSpPr>
          <p:cNvPr id="20" name="">
            <a:extLst xmlns:a="http://schemas.openxmlformats.org/drawingml/2006/main">
              <a:ext uri="{FF2B5EF4-FFF2-40B4-BE49-F238E27FC236}">
                <a16:creationId xmlns:a16="http://schemas.microsoft.com/office/drawing/2014/main" id="{9BA3A9D3-F1A7-477E-B566-A41E44ABCF6E}"/>
              </a:ext>
            </a:extLst>
          </p:cNvPr>
          <p:cNvSpPr>
            <a:spLocks xmlns:a="http://schemas.openxmlformats.org/drawingml/2006/main" noGrp="1"/>
          </p:cNvSpPr>
          <p:nvPr/>
        </p:nvSpPr>
        <p:spPr>
          <a:xfrm xmlns:a="http://schemas.openxmlformats.org/drawingml/2006/main">
            <a:off x="2609850" y="4514850"/>
            <a:ext cx="15049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35C7F0"/>
            </a:solidFill>
            <a:prstDash val="solid"/>
          </a:ln>
        </p:spPr>
      </p:sp>
      <p:sp>
        <p:nvSpPr>
          <p:cNvPr id="21" name="">
            <a:extLst xmlns:a="http://schemas.openxmlformats.org/drawingml/2006/main">
              <a:ext uri="{FF2B5EF4-FFF2-40B4-BE49-F238E27FC236}">
                <a16:creationId xmlns:a16="http://schemas.microsoft.com/office/drawing/2014/main" id="{F7DB2B0E-CCF3-4551-A9FF-3DFC0EDFF6F1}"/>
              </a:ext>
            </a:extLst>
          </p:cNvPr>
          <p:cNvSpPr>
            <a:spLocks xmlns:a="http://schemas.openxmlformats.org/drawingml/2006/main" noGrp="1"/>
          </p:cNvSpPr>
          <p:nvPr/>
        </p:nvSpPr>
        <p:spPr>
          <a:xfrm xmlns:a="http://schemas.openxmlformats.org/drawingml/2006/main">
            <a:off x="2705100" y="45339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35C7F0"/>
                </a:solidFill>
                <a:latin typeface="Aptos"/>
                <a:ea typeface="Aptos"/>
                <a:cs typeface="Aptos"/>
              </a:defRPr>
            </a:pPr>
            <a:r>
              <a:rPr sz="1050" b="1">
                <a:solidFill>
                  <a:srgbClr val="35C7F0"/>
                </a:solidFill>
                <a:latin typeface="Aptos"/>
                <a:ea typeface="Aptos"/>
                <a:cs typeface="Aptos"/>
              </a:rPr>
              <a:t>CPU vacancies</a:t>
            </a:r>
          </a:p>
        </p:txBody>
      </p:sp>
      <p:sp>
        <p:nvSpPr>
          <p:cNvPr id="22" name="">
            <a:extLst xmlns:a="http://schemas.openxmlformats.org/drawingml/2006/main">
              <a:ext uri="{FF2B5EF4-FFF2-40B4-BE49-F238E27FC236}">
                <a16:creationId xmlns:a16="http://schemas.microsoft.com/office/drawing/2014/main" id="{9B7E4BD1-045F-4881-8EF8-CC930E874827}"/>
              </a:ext>
            </a:extLst>
          </p:cNvPr>
          <p:cNvSpPr>
            <a:spLocks xmlns:a="http://schemas.openxmlformats.org/drawingml/2006/main" noGrp="1"/>
          </p:cNvSpPr>
          <p:nvPr/>
        </p:nvSpPr>
        <p:spPr>
          <a:xfrm xmlns:a="http://schemas.openxmlformats.org/drawingml/2006/main">
            <a:off x="4229100" y="4514850"/>
            <a:ext cx="133350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23" name="">
            <a:extLst xmlns:a="http://schemas.openxmlformats.org/drawingml/2006/main">
              <a:ext uri="{FF2B5EF4-FFF2-40B4-BE49-F238E27FC236}">
                <a16:creationId xmlns:a16="http://schemas.microsoft.com/office/drawing/2014/main" id="{6605D062-F64E-4D8B-8FD7-29EAD8BA6C4F}"/>
              </a:ext>
            </a:extLst>
          </p:cNvPr>
          <p:cNvSpPr>
            <a:spLocks xmlns:a="http://schemas.openxmlformats.org/drawingml/2006/main" noGrp="1"/>
          </p:cNvSpPr>
          <p:nvPr/>
        </p:nvSpPr>
        <p:spPr>
          <a:xfrm xmlns:a="http://schemas.openxmlformats.org/drawingml/2006/main">
            <a:off x="4324350" y="45339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Trade rooms</a:t>
            </a:r>
          </a:p>
        </p:txBody>
      </p:sp>
      <p:sp>
        <p:nvSpPr>
          <p:cNvPr id="24" name="">
            <a:extLst xmlns:a="http://schemas.openxmlformats.org/drawingml/2006/main">
              <a:ext uri="{FF2B5EF4-FFF2-40B4-BE49-F238E27FC236}">
                <a16:creationId xmlns:a16="http://schemas.microsoft.com/office/drawing/2014/main" id="{59694A17-D28D-4C70-A9E9-23137DB078A8}"/>
              </a:ext>
            </a:extLst>
          </p:cNvPr>
          <p:cNvSpPr>
            <a:spLocks xmlns:a="http://schemas.openxmlformats.org/drawingml/2006/main" noGrp="1"/>
          </p:cNvSpPr>
          <p:nvPr/>
        </p:nvSpPr>
        <p:spPr>
          <a:xfrm xmlns:a="http://schemas.openxmlformats.org/drawingml/2006/main">
            <a:off x="5676900" y="4514850"/>
            <a:ext cx="18097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00E59B"/>
            </a:solidFill>
            <a:prstDash val="solid"/>
          </a:ln>
        </p:spPr>
      </p:sp>
      <p:sp>
        <p:nvSpPr>
          <p:cNvPr id="25" name="">
            <a:extLst xmlns:a="http://schemas.openxmlformats.org/drawingml/2006/main">
              <a:ext uri="{FF2B5EF4-FFF2-40B4-BE49-F238E27FC236}">
                <a16:creationId xmlns:a16="http://schemas.microsoft.com/office/drawing/2014/main" id="{FB92BD19-A025-460A-85BB-DB98F5B21E0D}"/>
              </a:ext>
            </a:extLst>
          </p:cNvPr>
          <p:cNvSpPr>
            <a:spLocks xmlns:a="http://schemas.openxmlformats.org/drawingml/2006/main" noGrp="1"/>
          </p:cNvSpPr>
          <p:nvPr/>
        </p:nvSpPr>
        <p:spPr>
          <a:xfrm xmlns:a="http://schemas.openxmlformats.org/drawingml/2006/main">
            <a:off x="5772150" y="4533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E59B"/>
                </a:solidFill>
                <a:latin typeface="Aptos"/>
                <a:ea typeface="Aptos"/>
                <a:cs typeface="Aptos"/>
              </a:defRPr>
            </a:pPr>
            <a:r>
              <a:rPr sz="1050" b="1">
                <a:solidFill>
                  <a:srgbClr val="00E59B"/>
                </a:solidFill>
                <a:latin typeface="Aptos"/>
                <a:ea typeface="Aptos"/>
                <a:cs typeface="Aptos"/>
              </a:rPr>
              <a:t>Player intelligence</a:t>
            </a:r>
          </a:p>
        </p:txBody>
      </p:sp>
      <p:sp>
        <p:nvSpPr>
          <p:cNvPr id="26" name="">
            <a:extLst xmlns:a="http://schemas.openxmlformats.org/drawingml/2006/main">
              <a:ext uri="{FF2B5EF4-FFF2-40B4-BE49-F238E27FC236}">
                <a16:creationId xmlns:a16="http://schemas.microsoft.com/office/drawing/2014/main" id="{F9BDE95F-E9FC-43F7-97CC-DC7266A00DBD}"/>
              </a:ext>
            </a:extLst>
          </p:cNvPr>
          <p:cNvSpPr>
            <a:spLocks xmlns:a="http://schemas.openxmlformats.org/drawingml/2006/main" noGrp="1"/>
          </p:cNvSpPr>
          <p:nvPr/>
        </p:nvSpPr>
        <p:spPr>
          <a:xfrm xmlns:a="http://schemas.openxmlformats.org/drawingml/2006/main">
            <a:off x="7600950" y="4514850"/>
            <a:ext cx="13906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35C7F0"/>
            </a:solidFill>
            <a:prstDash val="solid"/>
          </a:ln>
        </p:spPr>
      </p:sp>
      <p:sp>
        <p:nvSpPr>
          <p:cNvPr id="27" name="">
            <a:extLst xmlns:a="http://schemas.openxmlformats.org/drawingml/2006/main">
              <a:ext uri="{FF2B5EF4-FFF2-40B4-BE49-F238E27FC236}">
                <a16:creationId xmlns:a16="http://schemas.microsoft.com/office/drawing/2014/main" id="{51E39058-C500-460B-BA9C-ADBE8D48201E}"/>
              </a:ext>
            </a:extLst>
          </p:cNvPr>
          <p:cNvSpPr>
            <a:spLocks xmlns:a="http://schemas.openxmlformats.org/drawingml/2006/main" noGrp="1"/>
          </p:cNvSpPr>
          <p:nvPr/>
        </p:nvSpPr>
        <p:spPr>
          <a:xfrm xmlns:a="http://schemas.openxmlformats.org/drawingml/2006/main">
            <a:off x="7696200" y="453390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35C7F0"/>
                </a:solidFill>
                <a:latin typeface="Aptos"/>
                <a:ea typeface="Aptos"/>
                <a:cs typeface="Aptos"/>
              </a:defRPr>
            </a:pPr>
            <a:r>
              <a:rPr sz="1050" b="1">
                <a:solidFill>
                  <a:srgbClr val="35C7F0"/>
                </a:solidFill>
                <a:latin typeface="Aptos"/>
                <a:ea typeface="Aptos"/>
                <a:cs typeface="Aptos"/>
              </a:rPr>
              <a:t>League stats</a:t>
            </a:r>
          </a:p>
        </p:txBody>
      </p:sp>
      <p:sp>
        <p:nvSpPr>
          <p:cNvPr id="28" name="">
            <a:extLst xmlns:a="http://schemas.openxmlformats.org/drawingml/2006/main">
              <a:ext uri="{FF2B5EF4-FFF2-40B4-BE49-F238E27FC236}">
                <a16:creationId xmlns:a16="http://schemas.microsoft.com/office/drawing/2014/main" id="{BC46BA13-4CCB-4185-845F-D5244952D775}"/>
              </a:ext>
            </a:extLst>
          </p:cNvPr>
          <p:cNvSpPr>
            <a:spLocks xmlns:a="http://schemas.openxmlformats.org/drawingml/2006/main" noGrp="1"/>
          </p:cNvSpPr>
          <p:nvPr/>
        </p:nvSpPr>
        <p:spPr>
          <a:xfrm xmlns:a="http://schemas.openxmlformats.org/drawingml/2006/main">
            <a:off x="9105900" y="4514850"/>
            <a:ext cx="19240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29" name="">
            <a:extLst xmlns:a="http://schemas.openxmlformats.org/drawingml/2006/main">
              <a:ext uri="{FF2B5EF4-FFF2-40B4-BE49-F238E27FC236}">
                <a16:creationId xmlns:a16="http://schemas.microsoft.com/office/drawing/2014/main" id="{73908DD5-5759-466A-AAEA-1038C74B3FD2}"/>
              </a:ext>
            </a:extLst>
          </p:cNvPr>
          <p:cNvSpPr>
            <a:spLocks xmlns:a="http://schemas.openxmlformats.org/drawingml/2006/main" noGrp="1"/>
          </p:cNvSpPr>
          <p:nvPr/>
        </p:nvSpPr>
        <p:spPr>
          <a:xfrm xmlns:a="http://schemas.openxmlformats.org/drawingml/2006/main">
            <a:off x="9201150" y="45339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Social moderation</a:t>
            </a:r>
          </a:p>
        </p:txBody>
      </p:sp>
      <p:sp>
        <p:nvSpPr>
          <p:cNvPr id="30" name="">
            <a:extLst xmlns:a="http://schemas.openxmlformats.org/drawingml/2006/main">
              <a:ext uri="{FF2B5EF4-FFF2-40B4-BE49-F238E27FC236}">
                <a16:creationId xmlns:a16="http://schemas.microsoft.com/office/drawing/2014/main" id="{F64F0AF4-A507-47DE-8B75-63B5538BE977}"/>
              </a:ext>
            </a:extLst>
          </p:cNvPr>
          <p:cNvSpPr>
            <a:spLocks xmlns:a="http://schemas.openxmlformats.org/drawingml/2006/main" noGrp="1"/>
          </p:cNvSpPr>
          <p:nvPr/>
        </p:nvSpPr>
        <p:spPr>
          <a:xfrm xmlns:a="http://schemas.openxmlformats.org/drawingml/2006/main">
            <a:off x="685800" y="5010150"/>
            <a:ext cx="20764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00E59B"/>
            </a:solidFill>
            <a:prstDash val="solid"/>
          </a:ln>
        </p:spPr>
      </p:sp>
      <p:sp>
        <p:nvSpPr>
          <p:cNvPr id="31" name="">
            <a:extLst xmlns:a="http://schemas.openxmlformats.org/drawingml/2006/main">
              <a:ext uri="{FF2B5EF4-FFF2-40B4-BE49-F238E27FC236}">
                <a16:creationId xmlns:a16="http://schemas.microsoft.com/office/drawing/2014/main" id="{C9AA5E26-F292-4508-AFE0-60FEB5BB6AA8}"/>
              </a:ext>
            </a:extLst>
          </p:cNvPr>
          <p:cNvSpPr>
            <a:spLocks xmlns:a="http://schemas.openxmlformats.org/drawingml/2006/main" noGrp="1"/>
          </p:cNvSpPr>
          <p:nvPr/>
        </p:nvSpPr>
        <p:spPr>
          <a:xfrm xmlns:a="http://schemas.openxmlformats.org/drawingml/2006/main">
            <a:off x="781050" y="502920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E59B"/>
                </a:solidFill>
                <a:latin typeface="Aptos"/>
                <a:ea typeface="Aptos"/>
                <a:cs typeface="Aptos"/>
              </a:defRPr>
            </a:pPr>
            <a:r>
              <a:rPr sz="1050" b="1">
                <a:solidFill>
                  <a:srgbClr val="00E59B"/>
                </a:solidFill>
                <a:latin typeface="Aptos"/>
                <a:ea typeface="Aptos"/>
                <a:cs typeface="Aptos"/>
              </a:rPr>
              <a:t>Schedules + standings</a:t>
            </a:r>
          </a:p>
        </p:txBody>
      </p:sp>
      <p:sp>
        <p:nvSpPr>
          <p:cNvPr id="32" name="">
            <a:extLst xmlns:a="http://schemas.openxmlformats.org/drawingml/2006/main">
              <a:ext uri="{FF2B5EF4-FFF2-40B4-BE49-F238E27FC236}">
                <a16:creationId xmlns:a16="http://schemas.microsoft.com/office/drawing/2014/main" id="{3FC78AE0-F6D3-46E0-8823-13A269FB1269}"/>
              </a:ext>
            </a:extLst>
          </p:cNvPr>
          <p:cNvSpPr>
            <a:spLocks xmlns:a="http://schemas.openxmlformats.org/drawingml/2006/main" noGrp="1"/>
          </p:cNvSpPr>
          <p:nvPr/>
        </p:nvSpPr>
        <p:spPr>
          <a:xfrm xmlns:a="http://schemas.openxmlformats.org/drawingml/2006/main">
            <a:off x="2876550" y="5010150"/>
            <a:ext cx="140970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35C7F0"/>
            </a:solidFill>
            <a:prstDash val="solid"/>
          </a:ln>
        </p:spPr>
      </p:sp>
      <p:sp>
        <p:nvSpPr>
          <p:cNvPr id="33" name="">
            <a:extLst xmlns:a="http://schemas.openxmlformats.org/drawingml/2006/main">
              <a:ext uri="{FF2B5EF4-FFF2-40B4-BE49-F238E27FC236}">
                <a16:creationId xmlns:a16="http://schemas.microsoft.com/office/drawing/2014/main" id="{9BDCAA41-F581-4119-BD9F-084E39BA78E7}"/>
              </a:ext>
            </a:extLst>
          </p:cNvPr>
          <p:cNvSpPr>
            <a:spLocks xmlns:a="http://schemas.openxmlformats.org/drawingml/2006/main" noGrp="1"/>
          </p:cNvSpPr>
          <p:nvPr/>
        </p:nvSpPr>
        <p:spPr>
          <a:xfrm xmlns:a="http://schemas.openxmlformats.org/drawingml/2006/main">
            <a:off x="2971800" y="50292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35C7F0"/>
                </a:solidFill>
                <a:latin typeface="Aptos"/>
                <a:ea typeface="Aptos"/>
                <a:cs typeface="Aptos"/>
              </a:defRPr>
            </a:pPr>
            <a:r>
              <a:rPr sz="1050" b="1">
                <a:solidFill>
                  <a:srgbClr val="35C7F0"/>
                </a:solidFill>
                <a:latin typeface="Aptos"/>
                <a:ea typeface="Aptos"/>
                <a:cs typeface="Aptos"/>
              </a:rPr>
              <a:t>Game results</a:t>
            </a:r>
          </a:p>
        </p:txBody>
      </p:sp>
      <p:sp>
        <p:nvSpPr>
          <p:cNvPr id="34" name="">
            <a:extLst xmlns:a="http://schemas.openxmlformats.org/drawingml/2006/main">
              <a:ext uri="{FF2B5EF4-FFF2-40B4-BE49-F238E27FC236}">
                <a16:creationId xmlns:a16="http://schemas.microsoft.com/office/drawing/2014/main" id="{B1091902-6EE3-40F9-8E23-97FD59B656F7}"/>
              </a:ext>
            </a:extLst>
          </p:cNvPr>
          <p:cNvSpPr>
            <a:spLocks xmlns:a="http://schemas.openxmlformats.org/drawingml/2006/main" noGrp="1"/>
          </p:cNvSpPr>
          <p:nvPr/>
        </p:nvSpPr>
        <p:spPr>
          <a:xfrm xmlns:a="http://schemas.openxmlformats.org/drawingml/2006/main">
            <a:off x="4400550" y="5010150"/>
            <a:ext cx="156210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35" name="">
            <a:extLst xmlns:a="http://schemas.openxmlformats.org/drawingml/2006/main">
              <a:ext uri="{FF2B5EF4-FFF2-40B4-BE49-F238E27FC236}">
                <a16:creationId xmlns:a16="http://schemas.microsoft.com/office/drawing/2014/main" id="{B66F7C57-B974-4AA0-A7CC-3E1855F50E6B}"/>
              </a:ext>
            </a:extLst>
          </p:cNvPr>
          <p:cNvSpPr>
            <a:spLocks xmlns:a="http://schemas.openxmlformats.org/drawingml/2006/main" noGrp="1"/>
          </p:cNvSpPr>
          <p:nvPr/>
        </p:nvSpPr>
        <p:spPr>
          <a:xfrm xmlns:a="http://schemas.openxmlformats.org/drawingml/2006/main">
            <a:off x="4495800" y="5029200"/>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Coaching prep</a:t>
            </a:r>
          </a:p>
        </p:txBody>
      </p:sp>
      <p:sp>
        <p:nvSpPr>
          <p:cNvPr id="36" name="">
            <a:extLst xmlns:a="http://schemas.openxmlformats.org/drawingml/2006/main">
              <a:ext uri="{FF2B5EF4-FFF2-40B4-BE49-F238E27FC236}">
                <a16:creationId xmlns:a16="http://schemas.microsoft.com/office/drawing/2014/main" id="{47CD6F34-72DB-4111-84E5-3571CAD6EE43}"/>
              </a:ext>
            </a:extLst>
          </p:cNvPr>
          <p:cNvSpPr>
            <a:spLocks xmlns:a="http://schemas.openxmlformats.org/drawingml/2006/main" noGrp="1"/>
          </p:cNvSpPr>
          <p:nvPr/>
        </p:nvSpPr>
        <p:spPr>
          <a:xfrm xmlns:a="http://schemas.openxmlformats.org/drawingml/2006/main">
            <a:off x="6076950" y="5010150"/>
            <a:ext cx="14668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00E59B"/>
            </a:solidFill>
            <a:prstDash val="solid"/>
          </a:ln>
        </p:spPr>
      </p:sp>
      <p:sp>
        <p:nvSpPr>
          <p:cNvPr id="37" name="">
            <a:extLst xmlns:a="http://schemas.openxmlformats.org/drawingml/2006/main">
              <a:ext uri="{FF2B5EF4-FFF2-40B4-BE49-F238E27FC236}">
                <a16:creationId xmlns:a16="http://schemas.microsoft.com/office/drawing/2014/main" id="{0BAB3E11-E2DA-4DCB-BFB2-4A7AF736F04D}"/>
              </a:ext>
            </a:extLst>
          </p:cNvPr>
          <p:cNvSpPr>
            <a:spLocks xmlns:a="http://schemas.openxmlformats.org/drawingml/2006/main" noGrp="1"/>
          </p:cNvSpPr>
          <p:nvPr/>
        </p:nvSpPr>
        <p:spPr>
          <a:xfrm xmlns:a="http://schemas.openxmlformats.org/drawingml/2006/main">
            <a:off x="6172200" y="5029200"/>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E59B"/>
                </a:solidFill>
                <a:latin typeface="Aptos"/>
                <a:ea typeface="Aptos"/>
                <a:cs typeface="Aptos"/>
              </a:defRPr>
            </a:pPr>
            <a:r>
              <a:rPr sz="1050" b="1">
                <a:solidFill>
                  <a:srgbClr val="00E59B"/>
                </a:solidFill>
                <a:latin typeface="Aptos"/>
                <a:ea typeface="Aptos"/>
                <a:cs typeface="Aptos"/>
              </a:rPr>
              <a:t>Offseason flow</a:t>
            </a:r>
          </a:p>
        </p:txBody>
      </p:sp>
      <p:sp>
        <p:nvSpPr>
          <p:cNvPr id="38" name="">
            <a:extLst xmlns:a="http://schemas.openxmlformats.org/drawingml/2006/main">
              <a:ext uri="{FF2B5EF4-FFF2-40B4-BE49-F238E27FC236}">
                <a16:creationId xmlns:a16="http://schemas.microsoft.com/office/drawing/2014/main" id="{77E93FE8-5011-4D53-A7B1-D81C81421D18}"/>
              </a:ext>
            </a:extLst>
          </p:cNvPr>
          <p:cNvSpPr>
            <a:spLocks xmlns:a="http://schemas.openxmlformats.org/drawingml/2006/main" noGrp="1"/>
          </p:cNvSpPr>
          <p:nvPr/>
        </p:nvSpPr>
        <p:spPr>
          <a:xfrm xmlns:a="http://schemas.openxmlformats.org/drawingml/2006/main">
            <a:off x="7658100" y="5010150"/>
            <a:ext cx="14668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35C7F0"/>
            </a:solidFill>
            <a:prstDash val="solid"/>
          </a:ln>
        </p:spPr>
      </p:sp>
      <p:sp>
        <p:nvSpPr>
          <p:cNvPr id="39" name="">
            <a:extLst xmlns:a="http://schemas.openxmlformats.org/drawingml/2006/main">
              <a:ext uri="{FF2B5EF4-FFF2-40B4-BE49-F238E27FC236}">
                <a16:creationId xmlns:a16="http://schemas.microsoft.com/office/drawing/2014/main" id="{0AB07539-0758-4C49-A51A-9CAF56682D52}"/>
              </a:ext>
            </a:extLst>
          </p:cNvPr>
          <p:cNvSpPr>
            <a:spLocks xmlns:a="http://schemas.openxmlformats.org/drawingml/2006/main" noGrp="1"/>
          </p:cNvSpPr>
          <p:nvPr/>
        </p:nvSpPr>
        <p:spPr>
          <a:xfrm xmlns:a="http://schemas.openxmlformats.org/drawingml/2006/main">
            <a:off x="7753350" y="5029200"/>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35C7F0"/>
                </a:solidFill>
                <a:latin typeface="Aptos"/>
                <a:ea typeface="Aptos"/>
                <a:cs typeface="Aptos"/>
              </a:defRPr>
            </a:pPr>
            <a:r>
              <a:rPr sz="1050" b="1">
                <a:solidFill>
                  <a:srgbClr val="35C7F0"/>
                </a:solidFill>
                <a:latin typeface="Aptos"/>
                <a:ea typeface="Aptos"/>
                <a:cs typeface="Aptos"/>
              </a:rPr>
              <a:t>Alerts + news</a:t>
            </a:r>
          </a:p>
        </p:txBody>
      </p:sp>
      <p:sp>
        <p:nvSpPr>
          <p:cNvPr id="40" name="">
            <a:extLst xmlns:a="http://schemas.openxmlformats.org/drawingml/2006/main">
              <a:ext uri="{FF2B5EF4-FFF2-40B4-BE49-F238E27FC236}">
                <a16:creationId xmlns:a16="http://schemas.microsoft.com/office/drawing/2014/main" id="{7C3B3283-87A2-441B-B24D-CC12ADD26F05}"/>
              </a:ext>
            </a:extLst>
          </p:cNvPr>
          <p:cNvSpPr>
            <a:spLocks xmlns:a="http://schemas.openxmlformats.org/drawingml/2006/main" noGrp="1"/>
          </p:cNvSpPr>
          <p:nvPr/>
        </p:nvSpPr>
        <p:spPr>
          <a:xfrm xmlns:a="http://schemas.openxmlformats.org/drawingml/2006/main">
            <a:off x="9239250" y="5010150"/>
            <a:ext cx="179070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41" name="">
            <a:extLst xmlns:a="http://schemas.openxmlformats.org/drawingml/2006/main">
              <a:ext uri="{FF2B5EF4-FFF2-40B4-BE49-F238E27FC236}">
                <a16:creationId xmlns:a16="http://schemas.microsoft.com/office/drawing/2014/main" id="{E1E9BDF5-DB54-49EC-8EEC-393CF53A6F23}"/>
              </a:ext>
            </a:extLst>
          </p:cNvPr>
          <p:cNvSpPr>
            <a:spLocks xmlns:a="http://schemas.openxmlformats.org/drawingml/2006/main" noGrp="1"/>
          </p:cNvSpPr>
          <p:nvPr/>
        </p:nvSpPr>
        <p:spPr>
          <a:xfrm xmlns:a="http://schemas.openxmlformats.org/drawingml/2006/main">
            <a:off x="9334500" y="5029200"/>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Viewer-safe demo</a:t>
            </a:r>
          </a:p>
        </p:txBody>
      </p:sp>
      <p:sp>
        <p:nvSpPr>
          <p:cNvPr id="42" name="">
            <a:extLst xmlns:a="http://schemas.openxmlformats.org/drawingml/2006/main">
              <a:ext uri="{FF2B5EF4-FFF2-40B4-BE49-F238E27FC236}">
                <a16:creationId xmlns:a16="http://schemas.microsoft.com/office/drawing/2014/main" id="{6C2E38CE-936C-45E6-B02F-D622FD391B5A}"/>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43" name="">
            <a:extLst xmlns:a="http://schemas.openxmlformats.org/drawingml/2006/main">
              <a:ext uri="{FF2B5EF4-FFF2-40B4-BE49-F238E27FC236}">
                <a16:creationId xmlns:a16="http://schemas.microsoft.com/office/drawing/2014/main" id="{27460561-2CDA-4E2C-8BDE-8979F12A46B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04</a:t>
            </a:r>
          </a:p>
        </p:txBody>
      </p:sp>
    </p:spTree>
    <p:extLst>
      <p:ext uri="{BB962C8B-B14F-4D97-AF65-F5344CB8AC3E}">
        <p14:creationId xmlns:p14="http://schemas.microsoft.com/office/powerpoint/2010/main" val="397788777"/>
      </p:ext>
    </p:extLst>
  </p:cSld>
</p:sld>
</file>

<file path=ppt/slides/slide5.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6AAC64-F946-4B10-8F16-C1F745EFB758}"/>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MOBILE GM EXPERIENCE</a:t>
            </a:r>
          </a:p>
        </p:txBody>
      </p:sp>
      <p:sp>
        <p:nvSpPr>
          <p:cNvPr id="2" name="">
            <a:extLst xmlns:a="http://schemas.openxmlformats.org/drawingml/2006/main">
              <a:ext uri="{FF2B5EF4-FFF2-40B4-BE49-F238E27FC236}">
                <a16:creationId xmlns:a16="http://schemas.microsoft.com/office/drawing/2014/main" id="{EDA4C63F-2761-4AB0-86E4-864D26A440C4}"/>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A front office that travels with the player.</a:t>
            </a:r>
          </a:p>
        </p:txBody>
      </p:sp>
      <p:sp>
        <p:nvSpPr>
          <p:cNvPr id="3" name="">
            <a:extLst xmlns:a="http://schemas.openxmlformats.org/drawingml/2006/main">
              <a:ext uri="{FF2B5EF4-FFF2-40B4-BE49-F238E27FC236}">
                <a16:creationId xmlns:a16="http://schemas.microsoft.com/office/drawing/2014/main" id="{7A30AB9A-2AD4-41F6-9BA4-9E9DAB9D9405}"/>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Designed for quick decisions, sustained league activity, and a direct return path to NBA 2K.</a:t>
            </a:r>
          </a:p>
        </p:txBody>
      </p:sp>
      <p:sp>
        <p:nvSpPr>
          <p:cNvPr id="4" name="">
            <a:extLst xmlns:a="http://schemas.openxmlformats.org/drawingml/2006/main">
              <a:ext uri="{FF2B5EF4-FFF2-40B4-BE49-F238E27FC236}">
                <a16:creationId xmlns:a16="http://schemas.microsoft.com/office/drawing/2014/main" id="{F906A1D3-5EC9-4256-ADFF-30429AB899AB}"/>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a3add0bd59e45d8"/>
          <a:srcRect xmlns:a="http://schemas.openxmlformats.org/drawingml/2006/main" l="0" t="14910" r="0" b="14910"/>
          <a:stretch xmlns:a="http://schemas.openxmlformats.org/drawingml/2006/main">
            <a:fillRect l="0" t="0" r="0" b="0"/>
          </a:stretch>
        </p:blipFill>
        <p:spPr>
          <a:xfrm xmlns:a="http://schemas.openxmlformats.org/drawingml/2006/main">
            <a:off x="666750" y="2095500"/>
            <a:ext cx="2857500" cy="4000500"/>
          </a:xfrm>
          <a:prstGeom xmlns:a="http://schemas.openxmlformats.org/drawingml/2006/main" prst="roundRect">
            <a:avLst>
              <a:gd name="adj" fmla="val 4000"/>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9a639661e084cb7"/>
          <a:srcRect xmlns:a="http://schemas.openxmlformats.org/drawingml/2006/main" l="0" t="14910" r="0" b="14910"/>
          <a:stretch xmlns:a="http://schemas.openxmlformats.org/drawingml/2006/main">
            <a:fillRect l="0" t="0" r="0" b="0"/>
          </a:stretch>
        </p:blipFill>
        <p:spPr>
          <a:xfrm xmlns:a="http://schemas.openxmlformats.org/drawingml/2006/main">
            <a:off x="4667250" y="2095500"/>
            <a:ext cx="2857500" cy="4000500"/>
          </a:xfrm>
          <a:prstGeom xmlns:a="http://schemas.openxmlformats.org/drawingml/2006/main" prst="roundRect">
            <a:avLst>
              <a:gd name="adj" fmla="val 4000"/>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d2bfedebfed4302"/>
          <a:srcRect xmlns:a="http://schemas.openxmlformats.org/drawingml/2006/main" l="0" t="14910" r="0" b="14910"/>
          <a:stretch xmlns:a="http://schemas.openxmlformats.org/drawingml/2006/main">
            <a:fillRect l="0" t="0" r="0" b="0"/>
          </a:stretch>
        </p:blipFill>
        <p:spPr>
          <a:xfrm xmlns:a="http://schemas.openxmlformats.org/drawingml/2006/main">
            <a:off x="8667750" y="2095500"/>
            <a:ext cx="2857500" cy="4000500"/>
          </a:xfrm>
          <a:prstGeom xmlns:a="http://schemas.openxmlformats.org/drawingml/2006/main" prst="roundRect">
            <a:avLst>
              <a:gd name="adj" fmla="val 4000"/>
            </a:avLst>
          </a:prstGeom>
        </p:spPr>
      </p:pic>
      <p:sp>
        <p:nvSpPr>
          <p:cNvPr id="8" name="">
            <a:extLst xmlns:a="http://schemas.openxmlformats.org/drawingml/2006/main">
              <a:ext uri="{FF2B5EF4-FFF2-40B4-BE49-F238E27FC236}">
                <a16:creationId xmlns:a16="http://schemas.microsoft.com/office/drawing/2014/main" id="{8B4C3375-0F41-4A5D-A480-7DB048AEC49C}"/>
              </a:ext>
            </a:extLst>
          </p:cNvPr>
          <p:cNvSpPr>
            <a:spLocks xmlns:a="http://schemas.openxmlformats.org/drawingml/2006/main" noGrp="1"/>
          </p:cNvSpPr>
          <p:nvPr/>
        </p:nvSpPr>
        <p:spPr>
          <a:xfrm xmlns:a="http://schemas.openxmlformats.org/drawingml/2006/main">
            <a:off x="1000125" y="57912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35C7F0"/>
                </a:solidFill>
                <a:latin typeface="Aptos"/>
                <a:ea typeface="Aptos"/>
                <a:cs typeface="Aptos"/>
              </a:defRPr>
            </a:pPr>
            <a:r>
              <a:rPr sz="1200" b="1">
                <a:solidFill>
                  <a:srgbClr val="35C7F0"/>
                </a:solidFill>
                <a:latin typeface="Aptos"/>
                <a:ea typeface="Aptos"/>
                <a:cs typeface="Aptos"/>
              </a:rPr>
              <a:t>NEGOTIATE</a:t>
            </a:r>
          </a:p>
        </p:txBody>
      </p:sp>
      <p:sp>
        <p:nvSpPr>
          <p:cNvPr id="9" name="">
            <a:extLst xmlns:a="http://schemas.openxmlformats.org/drawingml/2006/main">
              <a:ext uri="{FF2B5EF4-FFF2-40B4-BE49-F238E27FC236}">
                <a16:creationId xmlns:a16="http://schemas.microsoft.com/office/drawing/2014/main" id="{B3E46F17-096A-4171-B9A9-C10884F71B8A}"/>
              </a:ext>
            </a:extLst>
          </p:cNvPr>
          <p:cNvSpPr>
            <a:spLocks xmlns:a="http://schemas.openxmlformats.org/drawingml/2006/main" noGrp="1"/>
          </p:cNvSpPr>
          <p:nvPr/>
        </p:nvSpPr>
        <p:spPr>
          <a:xfrm xmlns:a="http://schemas.openxmlformats.org/drawingml/2006/main">
            <a:off x="5000625" y="57912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00E59B"/>
                </a:solidFill>
                <a:latin typeface="Aptos"/>
                <a:ea typeface="Aptos"/>
                <a:cs typeface="Aptos"/>
              </a:defRPr>
            </a:pPr>
            <a:r>
              <a:rPr sz="1200" b="1">
                <a:solidFill>
                  <a:srgbClr val="00E59B"/>
                </a:solidFill>
                <a:latin typeface="Aptos"/>
                <a:ea typeface="Aptos"/>
                <a:cs typeface="Aptos"/>
              </a:rPr>
              <a:t>OPERATE</a:t>
            </a:r>
          </a:p>
        </p:txBody>
      </p:sp>
      <p:sp>
        <p:nvSpPr>
          <p:cNvPr id="10" name="">
            <a:extLst xmlns:a="http://schemas.openxmlformats.org/drawingml/2006/main">
              <a:ext uri="{FF2B5EF4-FFF2-40B4-BE49-F238E27FC236}">
                <a16:creationId xmlns:a16="http://schemas.microsoft.com/office/drawing/2014/main" id="{B0F8E4B9-0715-4C70-8AFC-D66686DDEA3C}"/>
              </a:ext>
            </a:extLst>
          </p:cNvPr>
          <p:cNvSpPr>
            <a:spLocks xmlns:a="http://schemas.openxmlformats.org/drawingml/2006/main" noGrp="1"/>
          </p:cNvSpPr>
          <p:nvPr/>
        </p:nvSpPr>
        <p:spPr>
          <a:xfrm xmlns:a="http://schemas.openxmlformats.org/drawingml/2006/main">
            <a:off x="9001125" y="57912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5B82E"/>
                </a:solidFill>
                <a:latin typeface="Aptos"/>
                <a:ea typeface="Aptos"/>
                <a:cs typeface="Aptos"/>
              </a:defRPr>
            </a:pPr>
            <a:r>
              <a:rPr sz="1200" b="1">
                <a:solidFill>
                  <a:srgbClr val="F5B82E"/>
                </a:solidFill>
                <a:latin typeface="Aptos"/>
                <a:ea typeface="Aptos"/>
                <a:cs typeface="Aptos"/>
              </a:rPr>
              <a:t>CONNECT</a:t>
            </a:r>
          </a:p>
        </p:txBody>
      </p:sp>
      <p:sp>
        <p:nvSpPr>
          <p:cNvPr id="11" name="">
            <a:extLst xmlns:a="http://schemas.openxmlformats.org/drawingml/2006/main">
              <a:ext uri="{FF2B5EF4-FFF2-40B4-BE49-F238E27FC236}">
                <a16:creationId xmlns:a16="http://schemas.microsoft.com/office/drawing/2014/main" id="{C4DE9350-BBC5-477B-9E96-2430A93EC0D5}"/>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12" name="">
            <a:extLst xmlns:a="http://schemas.openxmlformats.org/drawingml/2006/main">
              <a:ext uri="{FF2B5EF4-FFF2-40B4-BE49-F238E27FC236}">
                <a16:creationId xmlns:a16="http://schemas.microsoft.com/office/drawing/2014/main" id="{529BF7D2-513E-4129-89C0-9FAABC7B16A9}"/>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05</a:t>
            </a:r>
          </a:p>
        </p:txBody>
      </p:sp>
    </p:spTree>
    <p:extLst>
      <p:ext uri="{BB962C8B-B14F-4D97-AF65-F5344CB8AC3E}">
        <p14:creationId xmlns:p14="http://schemas.microsoft.com/office/powerpoint/2010/main" val="1915073839"/>
      </p:ext>
    </p:extLst>
  </p:cSld>
</p:sld>
</file>

<file path=ppt/slides/slide6.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1AFB8AC-FF82-4DA4-970B-D4D639E38B90}"/>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THE HANDOFF</a:t>
            </a:r>
          </a:p>
        </p:txBody>
      </p:sp>
      <p:sp>
        <p:nvSpPr>
          <p:cNvPr id="2" name="">
            <a:extLst xmlns:a="http://schemas.openxmlformats.org/drawingml/2006/main">
              <a:ext uri="{FF2B5EF4-FFF2-40B4-BE49-F238E27FC236}">
                <a16:creationId xmlns:a16="http://schemas.microsoft.com/office/drawing/2014/main" id="{C8910AF2-8486-4105-A0B4-177BE277F14E}"/>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Mobile decisions create reasons to return to NBA 2K.</a:t>
            </a:r>
          </a:p>
        </p:txBody>
      </p:sp>
      <p:sp>
        <p:nvSpPr>
          <p:cNvPr id="3" name="">
            <a:extLst xmlns:a="http://schemas.openxmlformats.org/drawingml/2006/main">
              <a:ext uri="{FF2B5EF4-FFF2-40B4-BE49-F238E27FC236}">
                <a16:creationId xmlns:a16="http://schemas.microsoft.com/office/drawing/2014/main" id="{C1D5E0DB-675C-4EDB-A324-F92CE8466A61}"/>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The console or PC game remains the moment of truth; the companion makes that moment easier to reach.</a:t>
            </a:r>
          </a:p>
        </p:txBody>
      </p:sp>
      <p:sp>
        <p:nvSpPr>
          <p:cNvPr id="4" name="">
            <a:extLst xmlns:a="http://schemas.openxmlformats.org/drawingml/2006/main">
              <a:ext uri="{FF2B5EF4-FFF2-40B4-BE49-F238E27FC236}">
                <a16:creationId xmlns:a16="http://schemas.microsoft.com/office/drawing/2014/main" id="{E7A819F6-F292-4780-94E5-2DFB657A6AF1}"/>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260B0BDD-AA1F-4FD4-95F1-E0D5C651F3C4}"/>
              </a:ext>
            </a:extLst>
          </p:cNvPr>
          <p:cNvSpPr>
            <a:spLocks xmlns:a="http://schemas.openxmlformats.org/drawingml/2006/main" noGrp="1"/>
          </p:cNvSpPr>
          <p:nvPr/>
        </p:nvSpPr>
        <p:spPr>
          <a:xfrm xmlns:a="http://schemas.openxmlformats.org/drawingml/2006/main">
            <a:off x="685800" y="2247900"/>
            <a:ext cx="4572000" cy="3333750"/>
          </a:xfrm>
          <a:prstGeom xmlns:a="http://schemas.openxmlformats.org/drawingml/2006/main" prst="roundRect">
            <a:avLst>
              <a:gd name="adj" fmla="val 4571"/>
            </a:avLst>
          </a:prstGeom>
          <a:solidFill xmlns:a="http://schemas.openxmlformats.org/drawingml/2006/main">
            <a:srgbClr val="10171C"/>
          </a:solidFill>
          <a:ln xmlns:a="http://schemas.openxmlformats.org/drawingml/2006/main" w="11906">
            <a:solidFill>
              <a:srgbClr val="35C7F0"/>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967186ef293404d"/>
          <a:srcRect xmlns:a="http://schemas.openxmlformats.org/drawingml/2006/main" l="0" t="13717" r="0" b="13717"/>
          <a:stretch xmlns:a="http://schemas.openxmlformats.org/drawingml/2006/main">
            <a:fillRect l="0" t="0" r="0" b="0"/>
          </a:stretch>
        </p:blipFill>
        <p:spPr>
          <a:xfrm xmlns:a="http://schemas.openxmlformats.org/drawingml/2006/main">
            <a:off x="904875" y="2457450"/>
            <a:ext cx="2000250" cy="2895600"/>
          </a:xfrm>
          <a:prstGeom xmlns:a="http://schemas.openxmlformats.org/drawingml/2006/main" prst="roundRect">
            <a:avLst>
              <a:gd name="adj" fmla="val 5714"/>
            </a:avLst>
          </a:prstGeom>
        </p:spPr>
      </p:pic>
      <p:sp>
        <p:nvSpPr>
          <p:cNvPr id="7" name="">
            <a:extLst xmlns:a="http://schemas.openxmlformats.org/drawingml/2006/main">
              <a:ext uri="{FF2B5EF4-FFF2-40B4-BE49-F238E27FC236}">
                <a16:creationId xmlns:a16="http://schemas.microsoft.com/office/drawing/2014/main" id="{B4FDB2B7-8936-41A5-9585-F56B34F1FF46}"/>
              </a:ext>
            </a:extLst>
          </p:cNvPr>
          <p:cNvSpPr>
            <a:spLocks xmlns:a="http://schemas.openxmlformats.org/drawingml/2006/main" noGrp="1"/>
          </p:cNvSpPr>
          <p:nvPr/>
        </p:nvSpPr>
        <p:spPr>
          <a:xfrm xmlns:a="http://schemas.openxmlformats.org/drawingml/2006/main">
            <a:off x="3181350" y="2571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35C7F0"/>
                </a:solidFill>
                <a:latin typeface="Aptos"/>
                <a:ea typeface="Aptos"/>
                <a:cs typeface="Aptos"/>
              </a:defRPr>
            </a:pPr>
            <a:r>
              <a:rPr sz="1125" b="1">
                <a:solidFill>
                  <a:srgbClr val="35C7F0"/>
                </a:solidFill>
                <a:latin typeface="Aptos"/>
                <a:ea typeface="Aptos"/>
                <a:cs typeface="Aptos"/>
              </a:rPr>
              <a:t>AWAY FROM CONSOLE</a:t>
            </a:r>
          </a:p>
        </p:txBody>
      </p:sp>
      <p:sp>
        <p:nvSpPr>
          <p:cNvPr id="8" name="">
            <a:extLst xmlns:a="http://schemas.openxmlformats.org/drawingml/2006/main">
              <a:ext uri="{FF2B5EF4-FFF2-40B4-BE49-F238E27FC236}">
                <a16:creationId xmlns:a16="http://schemas.microsoft.com/office/drawing/2014/main" id="{038B4094-96E7-4189-8C3F-1D37825CF419}"/>
              </a:ext>
            </a:extLst>
          </p:cNvPr>
          <p:cNvSpPr>
            <a:spLocks xmlns:a="http://schemas.openxmlformats.org/drawingml/2006/main" noGrp="1"/>
          </p:cNvSpPr>
          <p:nvPr/>
        </p:nvSpPr>
        <p:spPr>
          <a:xfrm xmlns:a="http://schemas.openxmlformats.org/drawingml/2006/main">
            <a:off x="3181350" y="3114675"/>
            <a:ext cx="85725" cy="85725"/>
          </a:xfrm>
          <a:prstGeom xmlns:a="http://schemas.openxmlformats.org/drawingml/2006/main" prst="roundRect">
            <a:avLst>
              <a:gd name="adj" fmla="val 50000"/>
            </a:avLst>
          </a:prstGeom>
          <a:solidFill xmlns:a="http://schemas.openxmlformats.org/drawingml/2006/main">
            <a:srgbClr val="35C7F0"/>
          </a:solidFill>
          <a:ln xmlns:a="http://schemas.openxmlformats.org/drawingml/2006/main" w="11906">
            <a:solidFill>
              <a:srgbClr val="35C7F0"/>
            </a:solidFill>
            <a:prstDash val="solid"/>
          </a:ln>
        </p:spPr>
      </p:sp>
      <p:sp>
        <p:nvSpPr>
          <p:cNvPr id="9" name="">
            <a:extLst xmlns:a="http://schemas.openxmlformats.org/drawingml/2006/main">
              <a:ext uri="{FF2B5EF4-FFF2-40B4-BE49-F238E27FC236}">
                <a16:creationId xmlns:a16="http://schemas.microsoft.com/office/drawing/2014/main" id="{422BFABB-AB78-43AD-AB89-F0959A0357C7}"/>
              </a:ext>
            </a:extLst>
          </p:cNvPr>
          <p:cNvSpPr>
            <a:spLocks xmlns:a="http://schemas.openxmlformats.org/drawingml/2006/main" noGrp="1"/>
          </p:cNvSpPr>
          <p:nvPr/>
        </p:nvSpPr>
        <p:spPr>
          <a:xfrm xmlns:a="http://schemas.openxmlformats.org/drawingml/2006/main">
            <a:off x="3390900" y="3028950"/>
            <a:ext cx="1600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F7FAFC"/>
                </a:solidFill>
                <a:latin typeface="Aptos"/>
                <a:ea typeface="Aptos"/>
                <a:cs typeface="Aptos"/>
              </a:defRPr>
            </a:pPr>
            <a:r>
              <a:rPr sz="1350" b="0">
                <a:solidFill>
                  <a:srgbClr val="F7FAFC"/>
                </a:solidFill>
                <a:latin typeface="Aptos"/>
                <a:ea typeface="Aptos"/>
                <a:cs typeface="Aptos"/>
              </a:rPr>
              <a:t>Review schedule and standings</a:t>
            </a:r>
          </a:p>
        </p:txBody>
      </p:sp>
      <p:sp>
        <p:nvSpPr>
          <p:cNvPr id="10" name="">
            <a:extLst xmlns:a="http://schemas.openxmlformats.org/drawingml/2006/main">
              <a:ext uri="{FF2B5EF4-FFF2-40B4-BE49-F238E27FC236}">
                <a16:creationId xmlns:a16="http://schemas.microsoft.com/office/drawing/2014/main" id="{D6787ABF-DEB3-4021-AC5C-E8E690B9C06C}"/>
              </a:ext>
            </a:extLst>
          </p:cNvPr>
          <p:cNvSpPr>
            <a:spLocks xmlns:a="http://schemas.openxmlformats.org/drawingml/2006/main" noGrp="1"/>
          </p:cNvSpPr>
          <p:nvPr/>
        </p:nvSpPr>
        <p:spPr>
          <a:xfrm xmlns:a="http://schemas.openxmlformats.org/drawingml/2006/main">
            <a:off x="3181350" y="3724275"/>
            <a:ext cx="85725" cy="85725"/>
          </a:xfrm>
          <a:prstGeom xmlns:a="http://schemas.openxmlformats.org/drawingml/2006/main" prst="roundRect">
            <a:avLst>
              <a:gd name="adj" fmla="val 50000"/>
            </a:avLst>
          </a:prstGeom>
          <a:solidFill xmlns:a="http://schemas.openxmlformats.org/drawingml/2006/main">
            <a:srgbClr val="35C7F0"/>
          </a:solidFill>
          <a:ln xmlns:a="http://schemas.openxmlformats.org/drawingml/2006/main" w="11906">
            <a:solidFill>
              <a:srgbClr val="35C7F0"/>
            </a:solidFill>
            <a:prstDash val="solid"/>
          </a:ln>
        </p:spPr>
      </p:sp>
      <p:sp>
        <p:nvSpPr>
          <p:cNvPr id="11" name="">
            <a:extLst xmlns:a="http://schemas.openxmlformats.org/drawingml/2006/main">
              <a:ext uri="{FF2B5EF4-FFF2-40B4-BE49-F238E27FC236}">
                <a16:creationId xmlns:a16="http://schemas.microsoft.com/office/drawing/2014/main" id="{5C74FB23-FF11-45C2-B8F5-AEA220417E01}"/>
              </a:ext>
            </a:extLst>
          </p:cNvPr>
          <p:cNvSpPr>
            <a:spLocks xmlns:a="http://schemas.openxmlformats.org/drawingml/2006/main" noGrp="1"/>
          </p:cNvSpPr>
          <p:nvPr/>
        </p:nvSpPr>
        <p:spPr>
          <a:xfrm xmlns:a="http://schemas.openxmlformats.org/drawingml/2006/main">
            <a:off x="3390900" y="3638550"/>
            <a:ext cx="1600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F7FAFC"/>
                </a:solidFill>
                <a:latin typeface="Aptos"/>
                <a:ea typeface="Aptos"/>
                <a:cs typeface="Aptos"/>
              </a:defRPr>
            </a:pPr>
            <a:r>
              <a:rPr sz="1350" b="0">
                <a:solidFill>
                  <a:srgbClr val="F7FAFC"/>
                </a:solidFill>
                <a:latin typeface="Aptos"/>
                <a:ea typeface="Aptos"/>
                <a:cs typeface="Aptos"/>
              </a:rPr>
              <a:t>Prepare matchup strategy</a:t>
            </a:r>
          </a:p>
        </p:txBody>
      </p:sp>
      <p:sp>
        <p:nvSpPr>
          <p:cNvPr id="12" name="">
            <a:extLst xmlns:a="http://schemas.openxmlformats.org/drawingml/2006/main">
              <a:ext uri="{FF2B5EF4-FFF2-40B4-BE49-F238E27FC236}">
                <a16:creationId xmlns:a16="http://schemas.microsoft.com/office/drawing/2014/main" id="{6452FB30-CB80-4957-A3C8-9982CEDC4D8C}"/>
              </a:ext>
            </a:extLst>
          </p:cNvPr>
          <p:cNvSpPr>
            <a:spLocks xmlns:a="http://schemas.openxmlformats.org/drawingml/2006/main" noGrp="1"/>
          </p:cNvSpPr>
          <p:nvPr/>
        </p:nvSpPr>
        <p:spPr>
          <a:xfrm xmlns:a="http://schemas.openxmlformats.org/drawingml/2006/main">
            <a:off x="3181350" y="4333875"/>
            <a:ext cx="85725" cy="85725"/>
          </a:xfrm>
          <a:prstGeom xmlns:a="http://schemas.openxmlformats.org/drawingml/2006/main" prst="roundRect">
            <a:avLst>
              <a:gd name="adj" fmla="val 50000"/>
            </a:avLst>
          </a:prstGeom>
          <a:solidFill xmlns:a="http://schemas.openxmlformats.org/drawingml/2006/main">
            <a:srgbClr val="35C7F0"/>
          </a:solidFill>
          <a:ln xmlns:a="http://schemas.openxmlformats.org/drawingml/2006/main" w="11906">
            <a:solidFill>
              <a:srgbClr val="35C7F0"/>
            </a:solidFill>
            <a:prstDash val="solid"/>
          </a:ln>
        </p:spPr>
      </p:sp>
      <p:sp>
        <p:nvSpPr>
          <p:cNvPr id="13" name="">
            <a:extLst xmlns:a="http://schemas.openxmlformats.org/drawingml/2006/main">
              <a:ext uri="{FF2B5EF4-FFF2-40B4-BE49-F238E27FC236}">
                <a16:creationId xmlns:a16="http://schemas.microsoft.com/office/drawing/2014/main" id="{8EC1E66B-4888-446B-8289-5996AB69D178}"/>
              </a:ext>
            </a:extLst>
          </p:cNvPr>
          <p:cNvSpPr>
            <a:spLocks xmlns:a="http://schemas.openxmlformats.org/drawingml/2006/main" noGrp="1"/>
          </p:cNvSpPr>
          <p:nvPr/>
        </p:nvSpPr>
        <p:spPr>
          <a:xfrm xmlns:a="http://schemas.openxmlformats.org/drawingml/2006/main">
            <a:off x="3390900" y="4248150"/>
            <a:ext cx="1600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F7FAFC"/>
                </a:solidFill>
                <a:latin typeface="Aptos"/>
                <a:ea typeface="Aptos"/>
                <a:cs typeface="Aptos"/>
              </a:defRPr>
            </a:pPr>
            <a:r>
              <a:rPr sz="1350" b="0">
                <a:solidFill>
                  <a:srgbClr val="F7FAFC"/>
                </a:solidFill>
                <a:latin typeface="Aptos"/>
                <a:ea typeface="Aptos"/>
                <a:cs typeface="Aptos"/>
              </a:rPr>
              <a:t>Coordinate availability</a:t>
            </a:r>
          </a:p>
        </p:txBody>
      </p:sp>
      <p:sp>
        <p:nvSpPr>
          <p:cNvPr id="14" name="">
            <a:extLst xmlns:a="http://schemas.openxmlformats.org/drawingml/2006/main">
              <a:ext uri="{FF2B5EF4-FFF2-40B4-BE49-F238E27FC236}">
                <a16:creationId xmlns:a16="http://schemas.microsoft.com/office/drawing/2014/main" id="{A1DC1757-3A1C-43A9-BFEE-063B0844ECC6}"/>
              </a:ext>
            </a:extLst>
          </p:cNvPr>
          <p:cNvSpPr>
            <a:spLocks xmlns:a="http://schemas.openxmlformats.org/drawingml/2006/main" noGrp="1"/>
          </p:cNvSpPr>
          <p:nvPr/>
        </p:nvSpPr>
        <p:spPr>
          <a:xfrm xmlns:a="http://schemas.openxmlformats.org/drawingml/2006/main">
            <a:off x="3181350" y="4943475"/>
            <a:ext cx="85725" cy="85725"/>
          </a:xfrm>
          <a:prstGeom xmlns:a="http://schemas.openxmlformats.org/drawingml/2006/main" prst="roundRect">
            <a:avLst>
              <a:gd name="adj" fmla="val 50000"/>
            </a:avLst>
          </a:prstGeom>
          <a:solidFill xmlns:a="http://schemas.openxmlformats.org/drawingml/2006/main">
            <a:srgbClr val="35C7F0"/>
          </a:solidFill>
          <a:ln xmlns:a="http://schemas.openxmlformats.org/drawingml/2006/main" w="11906">
            <a:solidFill>
              <a:srgbClr val="35C7F0"/>
            </a:solidFill>
            <a:prstDash val="solid"/>
          </a:ln>
        </p:spPr>
      </p:sp>
      <p:sp>
        <p:nvSpPr>
          <p:cNvPr id="15" name="">
            <a:extLst xmlns:a="http://schemas.openxmlformats.org/drawingml/2006/main">
              <a:ext uri="{FF2B5EF4-FFF2-40B4-BE49-F238E27FC236}">
                <a16:creationId xmlns:a16="http://schemas.microsoft.com/office/drawing/2014/main" id="{80FB717F-965C-466F-8AA7-7FB26B1D0FBA}"/>
              </a:ext>
            </a:extLst>
          </p:cNvPr>
          <p:cNvSpPr>
            <a:spLocks xmlns:a="http://schemas.openxmlformats.org/drawingml/2006/main" noGrp="1"/>
          </p:cNvSpPr>
          <p:nvPr/>
        </p:nvSpPr>
        <p:spPr>
          <a:xfrm xmlns:a="http://schemas.openxmlformats.org/drawingml/2006/main">
            <a:off x="3390900" y="4857750"/>
            <a:ext cx="1600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F7FAFC"/>
                </a:solidFill>
                <a:latin typeface="Aptos"/>
                <a:ea typeface="Aptos"/>
                <a:cs typeface="Aptos"/>
              </a:defRPr>
            </a:pPr>
            <a:r>
              <a:rPr sz="1350" b="0">
                <a:solidFill>
                  <a:srgbClr val="F7FAFC"/>
                </a:solidFill>
                <a:latin typeface="Aptos"/>
                <a:ea typeface="Aptos"/>
                <a:cs typeface="Aptos"/>
              </a:rPr>
              <a:t>Resolve league business</a:t>
            </a:r>
          </a:p>
        </p:txBody>
      </p:sp>
      <p:sp>
        <p:nvSpPr>
          <p:cNvPr id="16" name="">
            <a:extLst xmlns:a="http://schemas.openxmlformats.org/drawingml/2006/main">
              <a:ext uri="{FF2B5EF4-FFF2-40B4-BE49-F238E27FC236}">
                <a16:creationId xmlns:a16="http://schemas.microsoft.com/office/drawing/2014/main" id="{0B870EFB-8DEE-4028-A883-590D77BBE5F5}"/>
              </a:ext>
            </a:extLst>
          </p:cNvPr>
          <p:cNvSpPr>
            <a:spLocks xmlns:a="http://schemas.openxmlformats.org/drawingml/2006/main" noGrp="1"/>
          </p:cNvSpPr>
          <p:nvPr/>
        </p:nvSpPr>
        <p:spPr>
          <a:xfrm xmlns:a="http://schemas.openxmlformats.org/drawingml/2006/main">
            <a:off x="5514975" y="3476625"/>
            <a:ext cx="85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4350" b="1">
                <a:solidFill>
                  <a:srgbClr val="00E59B"/>
                </a:solidFill>
                <a:latin typeface="Aptos"/>
                <a:ea typeface="Aptos"/>
                <a:cs typeface="Aptos"/>
              </a:defRPr>
            </a:pPr>
            <a:r>
              <a:rPr sz="4350" b="1">
                <a:solidFill>
                  <a:srgbClr val="00E59B"/>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60A9300E-72C2-4325-AB3B-D8A4F7AD2A27}"/>
              </a:ext>
            </a:extLst>
          </p:cNvPr>
          <p:cNvSpPr>
            <a:spLocks xmlns:a="http://schemas.openxmlformats.org/drawingml/2006/main" noGrp="1"/>
          </p:cNvSpPr>
          <p:nvPr/>
        </p:nvSpPr>
        <p:spPr>
          <a:xfrm xmlns:a="http://schemas.openxmlformats.org/drawingml/2006/main">
            <a:off x="6648450" y="2247900"/>
            <a:ext cx="4857750" cy="3333750"/>
          </a:xfrm>
          <a:prstGeom xmlns:a="http://schemas.openxmlformats.org/drawingml/2006/main" prst="roundRect">
            <a:avLst>
              <a:gd name="adj" fmla="val 4571"/>
            </a:avLst>
          </a:prstGeom>
          <a:solidFill xmlns:a="http://schemas.openxmlformats.org/drawingml/2006/main">
            <a:srgbClr val="151E24"/>
          </a:solidFill>
          <a:ln xmlns:a="http://schemas.openxmlformats.org/drawingml/2006/main" w="11906">
            <a:solidFill>
              <a:srgbClr val="00E59B"/>
            </a:solidFill>
            <a:prstDash val="solid"/>
          </a:ln>
        </p:spPr>
      </p:sp>
      <p:sp>
        <p:nvSpPr>
          <p:cNvPr id="18" name="">
            <a:extLst xmlns:a="http://schemas.openxmlformats.org/drawingml/2006/main">
              <a:ext uri="{FF2B5EF4-FFF2-40B4-BE49-F238E27FC236}">
                <a16:creationId xmlns:a16="http://schemas.microsoft.com/office/drawing/2014/main" id="{5FE67F5C-AE10-47E8-A6BB-B62CC6737813}"/>
              </a:ext>
            </a:extLst>
          </p:cNvPr>
          <p:cNvSpPr>
            <a:spLocks xmlns:a="http://schemas.openxmlformats.org/drawingml/2006/main" noGrp="1"/>
          </p:cNvSpPr>
          <p:nvPr/>
        </p:nvSpPr>
        <p:spPr>
          <a:xfrm xmlns:a="http://schemas.openxmlformats.org/drawingml/2006/main">
            <a:off x="6953250" y="2552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00E59B"/>
                </a:solidFill>
                <a:latin typeface="Aptos"/>
                <a:ea typeface="Aptos"/>
                <a:cs typeface="Aptos"/>
              </a:defRPr>
            </a:pPr>
            <a:r>
              <a:rPr sz="1125" b="1">
                <a:solidFill>
                  <a:srgbClr val="00E59B"/>
                </a:solidFill>
                <a:latin typeface="Aptos"/>
                <a:ea typeface="Aptos"/>
                <a:cs typeface="Aptos"/>
              </a:rPr>
              <a:t>ON NBA 2K</a:t>
            </a:r>
          </a:p>
        </p:txBody>
      </p:sp>
      <p:sp>
        <p:nvSpPr>
          <p:cNvPr id="19" name="">
            <a:extLst xmlns:a="http://schemas.openxmlformats.org/drawingml/2006/main">
              <a:ext uri="{FF2B5EF4-FFF2-40B4-BE49-F238E27FC236}">
                <a16:creationId xmlns:a16="http://schemas.microsoft.com/office/drawing/2014/main" id="{8CB4B862-5B76-4B16-8C45-95AACE2267C9}"/>
              </a:ext>
            </a:extLst>
          </p:cNvPr>
          <p:cNvSpPr>
            <a:spLocks xmlns:a="http://schemas.openxmlformats.org/drawingml/2006/main" noGrp="1"/>
          </p:cNvSpPr>
          <p:nvPr/>
        </p:nvSpPr>
        <p:spPr>
          <a:xfrm xmlns:a="http://schemas.openxmlformats.org/drawingml/2006/main">
            <a:off x="6953250" y="300037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F7FAFC"/>
                </a:solidFill>
                <a:latin typeface="Aptos"/>
                <a:ea typeface="Aptos"/>
                <a:cs typeface="Aptos"/>
              </a:defRPr>
            </a:pPr>
            <a:r>
              <a:rPr sz="2250" b="1">
                <a:solidFill>
                  <a:srgbClr val="F7FAFC"/>
                </a:solidFill>
                <a:latin typeface="Aptos"/>
                <a:ea typeface="Aptos"/>
                <a:cs typeface="Aptos"/>
              </a:rPr>
              <a:t>Play the scheduled matchup</a:t>
            </a:r>
          </a:p>
        </p:txBody>
      </p:sp>
      <p:sp>
        <p:nvSpPr>
          <p:cNvPr id="20" name="">
            <a:extLst xmlns:a="http://schemas.openxmlformats.org/drawingml/2006/main">
              <a:ext uri="{FF2B5EF4-FFF2-40B4-BE49-F238E27FC236}">
                <a16:creationId xmlns:a16="http://schemas.microsoft.com/office/drawing/2014/main" id="{12A3FCEF-7221-47B7-98D6-4CCBAF731A6E}"/>
              </a:ext>
            </a:extLst>
          </p:cNvPr>
          <p:cNvSpPr>
            <a:spLocks xmlns:a="http://schemas.openxmlformats.org/drawingml/2006/main" noGrp="1"/>
          </p:cNvSpPr>
          <p:nvPr/>
        </p:nvSpPr>
        <p:spPr>
          <a:xfrm xmlns:a="http://schemas.openxmlformats.org/drawingml/2006/main">
            <a:off x="6953250" y="37338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A8B5BD"/>
                </a:solidFill>
                <a:latin typeface="Aptos"/>
                <a:ea typeface="Aptos"/>
                <a:cs typeface="Aptos"/>
              </a:defRPr>
            </a:pPr>
            <a:r>
              <a:rPr sz="1650" b="0">
                <a:solidFill>
                  <a:srgbClr val="A8B5BD"/>
                </a:solidFill>
                <a:latin typeface="Aptos"/>
                <a:ea typeface="Aptos"/>
                <a:cs typeface="Aptos"/>
              </a:rPr>
              <a:t>NBA 2K remains authoritative for gameplay outcomes, licensed content, player data, anti-cheat, and platform services.</a:t>
            </a:r>
          </a:p>
        </p:txBody>
      </p:sp>
      <p:sp>
        <p:nvSpPr>
          <p:cNvPr id="21" name="">
            <a:extLst xmlns:a="http://schemas.openxmlformats.org/drawingml/2006/main">
              <a:ext uri="{FF2B5EF4-FFF2-40B4-BE49-F238E27FC236}">
                <a16:creationId xmlns:a16="http://schemas.microsoft.com/office/drawing/2014/main" id="{3321BA3F-6A22-4BB8-9E40-74717973836D}"/>
              </a:ext>
            </a:extLst>
          </p:cNvPr>
          <p:cNvSpPr>
            <a:spLocks xmlns:a="http://schemas.openxmlformats.org/drawingml/2006/main" noGrp="1"/>
          </p:cNvSpPr>
          <p:nvPr/>
        </p:nvSpPr>
        <p:spPr>
          <a:xfrm xmlns:a="http://schemas.openxmlformats.org/drawingml/2006/main">
            <a:off x="6953250" y="5010150"/>
            <a:ext cx="304800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22" name="">
            <a:extLst xmlns:a="http://schemas.openxmlformats.org/drawingml/2006/main">
              <a:ext uri="{FF2B5EF4-FFF2-40B4-BE49-F238E27FC236}">
                <a16:creationId xmlns:a16="http://schemas.microsoft.com/office/drawing/2014/main" id="{8D8017E8-ABAB-4F71-AC3D-B2DAC6552A9D}"/>
              </a:ext>
            </a:extLst>
          </p:cNvPr>
          <p:cNvSpPr>
            <a:spLocks xmlns:a="http://schemas.openxmlformats.org/drawingml/2006/main" noGrp="1"/>
          </p:cNvSpPr>
          <p:nvPr/>
        </p:nvSpPr>
        <p:spPr>
          <a:xfrm xmlns:a="http://schemas.openxmlformats.org/drawingml/2006/main">
            <a:off x="7048500" y="5029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RESULTS RETURN TO THE LEAGUE</a:t>
            </a:r>
          </a:p>
        </p:txBody>
      </p:sp>
      <p:sp>
        <p:nvSpPr>
          <p:cNvPr id="23" name="">
            <a:extLst xmlns:a="http://schemas.openxmlformats.org/drawingml/2006/main">
              <a:ext uri="{FF2B5EF4-FFF2-40B4-BE49-F238E27FC236}">
                <a16:creationId xmlns:a16="http://schemas.microsoft.com/office/drawing/2014/main" id="{443DF669-34F2-4938-97C0-FC18CD576A2F}"/>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24" name="">
            <a:extLst xmlns:a="http://schemas.openxmlformats.org/drawingml/2006/main">
              <a:ext uri="{FF2B5EF4-FFF2-40B4-BE49-F238E27FC236}">
                <a16:creationId xmlns:a16="http://schemas.microsoft.com/office/drawing/2014/main" id="{A5CD28AC-E441-4359-9B7C-9A6025DF879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06</a:t>
            </a:r>
          </a:p>
        </p:txBody>
      </p:sp>
    </p:spTree>
    <p:extLst>
      <p:ext uri="{BB962C8B-B14F-4D97-AF65-F5344CB8AC3E}">
        <p14:creationId xmlns:p14="http://schemas.microsoft.com/office/powerpoint/2010/main" val="1499577721"/>
      </p:ext>
    </p:extLst>
  </p:cSld>
</p:sld>
</file>

<file path=ppt/slides/slide7.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8D4FEA1-9EC1-403A-BC01-1EB800AFEE2A}"/>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STRATEGIC VALUE</a:t>
            </a:r>
          </a:p>
        </p:txBody>
      </p:sp>
      <p:sp>
        <p:nvSpPr>
          <p:cNvPr id="2" name="">
            <a:extLst xmlns:a="http://schemas.openxmlformats.org/drawingml/2006/main">
              <a:ext uri="{FF2B5EF4-FFF2-40B4-BE49-F238E27FC236}">
                <a16:creationId xmlns:a16="http://schemas.microsoft.com/office/drawing/2014/main" id="{BA028B80-D0FE-420B-B026-DFDDF8BCC3FA}"/>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More league life. More reasons to return.</a:t>
            </a:r>
          </a:p>
        </p:txBody>
      </p:sp>
      <p:sp>
        <p:nvSpPr>
          <p:cNvPr id="3" name="">
            <a:extLst xmlns:a="http://schemas.openxmlformats.org/drawingml/2006/main">
              <a:ext uri="{FF2B5EF4-FFF2-40B4-BE49-F238E27FC236}">
                <a16:creationId xmlns:a16="http://schemas.microsoft.com/office/drawing/2014/main" id="{D2DFBDB9-91DF-466F-A5AA-7EE096DE2652}"/>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The opportunity is not more screen time for its own sake; it is healthier, more persistent communities around NBA 2K.</a:t>
            </a:r>
          </a:p>
        </p:txBody>
      </p:sp>
      <p:sp>
        <p:nvSpPr>
          <p:cNvPr id="4" name="">
            <a:extLst xmlns:a="http://schemas.openxmlformats.org/drawingml/2006/main">
              <a:ext uri="{FF2B5EF4-FFF2-40B4-BE49-F238E27FC236}">
                <a16:creationId xmlns:a16="http://schemas.microsoft.com/office/drawing/2014/main" id="{3796D21A-1AAF-4C90-B6E7-87F08563BCCE}"/>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223AC55D-0AC6-419D-AD15-FB289CBA6421}"/>
              </a:ext>
            </a:extLst>
          </p:cNvPr>
          <p:cNvSpPr>
            <a:spLocks xmlns:a="http://schemas.openxmlformats.org/drawingml/2006/main" noGrp="1"/>
          </p:cNvSpPr>
          <p:nvPr/>
        </p:nvSpPr>
        <p:spPr>
          <a:xfrm xmlns:a="http://schemas.openxmlformats.org/drawingml/2006/main">
            <a:off x="666750" y="2305050"/>
            <a:ext cx="2286000" cy="66675"/>
          </a:xfrm>
          <a:prstGeom xmlns:a="http://schemas.openxmlformats.org/drawingml/2006/main" prst="rect">
            <a:avLst/>
          </a:prstGeom>
          <a:solidFill xmlns:a="http://schemas.openxmlformats.org/drawingml/2006/main">
            <a:srgbClr val="00E59B"/>
          </a:solidFill>
          <a:ln xmlns:a="http://schemas.openxmlformats.org/drawingml/2006/main" w="11906">
            <a:solidFill>
              <a:srgbClr val="00E59B"/>
            </a:solidFill>
            <a:prstDash val="solid"/>
          </a:ln>
        </p:spPr>
      </p:sp>
      <p:sp>
        <p:nvSpPr>
          <p:cNvPr id="6" name="">
            <a:extLst xmlns:a="http://schemas.openxmlformats.org/drawingml/2006/main">
              <a:ext uri="{FF2B5EF4-FFF2-40B4-BE49-F238E27FC236}">
                <a16:creationId xmlns:a16="http://schemas.microsoft.com/office/drawing/2014/main" id="{D9D9502F-16CD-4057-AB2B-072FE7CC7D25}"/>
              </a:ext>
            </a:extLst>
          </p:cNvPr>
          <p:cNvSpPr>
            <a:spLocks xmlns:a="http://schemas.openxmlformats.org/drawingml/2006/main" noGrp="1"/>
          </p:cNvSpPr>
          <p:nvPr/>
        </p:nvSpPr>
        <p:spPr>
          <a:xfrm xmlns:a="http://schemas.openxmlformats.org/drawingml/2006/main">
            <a:off x="666750" y="26098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00E59B"/>
                </a:solidFill>
                <a:latin typeface="Aptos"/>
                <a:ea typeface="Aptos"/>
                <a:cs typeface="Aptos"/>
              </a:defRPr>
            </a:pPr>
            <a:r>
              <a:rPr sz="1350" b="1">
                <a:solidFill>
                  <a:srgbClr val="00E59B"/>
                </a:solidFill>
                <a:latin typeface="Aptos"/>
                <a:ea typeface="Aptos"/>
                <a:cs typeface="Aptos"/>
              </a:rPr>
              <a:t>ENGAGEMENT</a:t>
            </a:r>
          </a:p>
        </p:txBody>
      </p:sp>
      <p:sp>
        <p:nvSpPr>
          <p:cNvPr id="7" name="">
            <a:extLst xmlns:a="http://schemas.openxmlformats.org/drawingml/2006/main">
              <a:ext uri="{FF2B5EF4-FFF2-40B4-BE49-F238E27FC236}">
                <a16:creationId xmlns:a16="http://schemas.microsoft.com/office/drawing/2014/main" id="{1E47C5AF-21E1-4404-B98B-A87433404914}"/>
              </a:ext>
            </a:extLst>
          </p:cNvPr>
          <p:cNvSpPr>
            <a:spLocks xmlns:a="http://schemas.openxmlformats.org/drawingml/2006/main" noGrp="1"/>
          </p:cNvSpPr>
          <p:nvPr/>
        </p:nvSpPr>
        <p:spPr>
          <a:xfrm xmlns:a="http://schemas.openxmlformats.org/drawingml/2006/main">
            <a:off x="666750" y="3105150"/>
            <a:ext cx="2286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F7FAFC"/>
                </a:solidFill>
                <a:latin typeface="Aptos"/>
                <a:ea typeface="Aptos"/>
                <a:cs typeface="Aptos"/>
              </a:defRPr>
            </a:pPr>
            <a:r>
              <a:rPr sz="1650" b="0">
                <a:solidFill>
                  <a:srgbClr val="F7FAFC"/>
                </a:solidFill>
                <a:latin typeface="Aptos"/>
                <a:ea typeface="Aptos"/>
                <a:cs typeface="Aptos"/>
              </a:rPr>
              <a:t>Create useful daily touchpoints between full game sessions.</a:t>
            </a:r>
          </a:p>
        </p:txBody>
      </p:sp>
      <p:sp>
        <p:nvSpPr>
          <p:cNvPr id="8" name="">
            <a:extLst xmlns:a="http://schemas.openxmlformats.org/drawingml/2006/main">
              <a:ext uri="{FF2B5EF4-FFF2-40B4-BE49-F238E27FC236}">
                <a16:creationId xmlns:a16="http://schemas.microsoft.com/office/drawing/2014/main" id="{EFDBABE8-FD4A-4BDB-B70E-6273F70B5D32}"/>
              </a:ext>
            </a:extLst>
          </p:cNvPr>
          <p:cNvSpPr>
            <a:spLocks xmlns:a="http://schemas.openxmlformats.org/drawingml/2006/main" noGrp="1"/>
          </p:cNvSpPr>
          <p:nvPr/>
        </p:nvSpPr>
        <p:spPr>
          <a:xfrm xmlns:a="http://schemas.openxmlformats.org/drawingml/2006/main">
            <a:off x="3505200" y="2305050"/>
            <a:ext cx="2286000" cy="66675"/>
          </a:xfrm>
          <a:prstGeom xmlns:a="http://schemas.openxmlformats.org/drawingml/2006/main" prst="rect">
            <a:avLst/>
          </a:prstGeom>
          <a:solidFill xmlns:a="http://schemas.openxmlformats.org/drawingml/2006/main">
            <a:srgbClr val="35C7F0"/>
          </a:solidFill>
          <a:ln xmlns:a="http://schemas.openxmlformats.org/drawingml/2006/main" w="11906">
            <a:solidFill>
              <a:srgbClr val="35C7F0"/>
            </a:solidFill>
            <a:prstDash val="solid"/>
          </a:ln>
        </p:spPr>
      </p:sp>
      <p:sp>
        <p:nvSpPr>
          <p:cNvPr id="9" name="">
            <a:extLst xmlns:a="http://schemas.openxmlformats.org/drawingml/2006/main">
              <a:ext uri="{FF2B5EF4-FFF2-40B4-BE49-F238E27FC236}">
                <a16:creationId xmlns:a16="http://schemas.microsoft.com/office/drawing/2014/main" id="{EB935820-0EA6-4BAC-9A19-D689F350E387}"/>
              </a:ext>
            </a:extLst>
          </p:cNvPr>
          <p:cNvSpPr>
            <a:spLocks xmlns:a="http://schemas.openxmlformats.org/drawingml/2006/main" noGrp="1"/>
          </p:cNvSpPr>
          <p:nvPr/>
        </p:nvSpPr>
        <p:spPr>
          <a:xfrm xmlns:a="http://schemas.openxmlformats.org/drawingml/2006/main">
            <a:off x="3505200" y="26098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35C7F0"/>
                </a:solidFill>
                <a:latin typeface="Aptos"/>
                <a:ea typeface="Aptos"/>
                <a:cs typeface="Aptos"/>
              </a:defRPr>
            </a:pPr>
            <a:r>
              <a:rPr sz="1350" b="1">
                <a:solidFill>
                  <a:srgbClr val="35C7F0"/>
                </a:solidFill>
                <a:latin typeface="Aptos"/>
                <a:ea typeface="Aptos"/>
                <a:cs typeface="Aptos"/>
              </a:rPr>
              <a:t>RETENTION</a:t>
            </a:r>
          </a:p>
        </p:txBody>
      </p:sp>
      <p:sp>
        <p:nvSpPr>
          <p:cNvPr id="10" name="">
            <a:extLst xmlns:a="http://schemas.openxmlformats.org/drawingml/2006/main">
              <a:ext uri="{FF2B5EF4-FFF2-40B4-BE49-F238E27FC236}">
                <a16:creationId xmlns:a16="http://schemas.microsoft.com/office/drawing/2014/main" id="{58EE0763-B59F-4EE3-BAE1-DF2D358065AE}"/>
              </a:ext>
            </a:extLst>
          </p:cNvPr>
          <p:cNvSpPr>
            <a:spLocks xmlns:a="http://schemas.openxmlformats.org/drawingml/2006/main" noGrp="1"/>
          </p:cNvSpPr>
          <p:nvPr/>
        </p:nvSpPr>
        <p:spPr>
          <a:xfrm xmlns:a="http://schemas.openxmlformats.org/drawingml/2006/main">
            <a:off x="3505200" y="3105150"/>
            <a:ext cx="2286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F7FAFC"/>
                </a:solidFill>
                <a:latin typeface="Aptos"/>
                <a:ea typeface="Aptos"/>
                <a:cs typeface="Aptos"/>
              </a:defRPr>
            </a:pPr>
            <a:r>
              <a:rPr sz="1650" b="0">
                <a:solidFill>
                  <a:srgbClr val="F7FAFC"/>
                </a:solidFill>
                <a:latin typeface="Aptos"/>
                <a:ea typeface="Aptos"/>
                <a:cs typeface="Aptos"/>
              </a:rPr>
              <a:t>Reduce league drop-off by keeping schedules, vacancies, and decisions moving.</a:t>
            </a:r>
          </a:p>
        </p:txBody>
      </p:sp>
      <p:sp>
        <p:nvSpPr>
          <p:cNvPr id="11" name="">
            <a:extLst xmlns:a="http://schemas.openxmlformats.org/drawingml/2006/main">
              <a:ext uri="{FF2B5EF4-FFF2-40B4-BE49-F238E27FC236}">
                <a16:creationId xmlns:a16="http://schemas.microsoft.com/office/drawing/2014/main" id="{38FB80DD-7732-45B0-84D4-D77F3A837DE1}"/>
              </a:ext>
            </a:extLst>
          </p:cNvPr>
          <p:cNvSpPr>
            <a:spLocks xmlns:a="http://schemas.openxmlformats.org/drawingml/2006/main" noGrp="1"/>
          </p:cNvSpPr>
          <p:nvPr/>
        </p:nvSpPr>
        <p:spPr>
          <a:xfrm xmlns:a="http://schemas.openxmlformats.org/drawingml/2006/main">
            <a:off x="6343650" y="2305050"/>
            <a:ext cx="2286000" cy="66675"/>
          </a:xfrm>
          <a:prstGeom xmlns:a="http://schemas.openxmlformats.org/drawingml/2006/main" prst="rect">
            <a:avLst/>
          </a:prstGeom>
          <a:solidFill xmlns:a="http://schemas.openxmlformats.org/drawingml/2006/main">
            <a:srgbClr val="F5B82E"/>
          </a:solidFill>
          <a:ln xmlns:a="http://schemas.openxmlformats.org/drawingml/2006/main" w="11906">
            <a:solidFill>
              <a:srgbClr val="F5B82E"/>
            </a:solidFill>
            <a:prstDash val="solid"/>
          </a:ln>
        </p:spPr>
      </p:sp>
      <p:sp>
        <p:nvSpPr>
          <p:cNvPr id="12" name="">
            <a:extLst xmlns:a="http://schemas.openxmlformats.org/drawingml/2006/main">
              <a:ext uri="{FF2B5EF4-FFF2-40B4-BE49-F238E27FC236}">
                <a16:creationId xmlns:a16="http://schemas.microsoft.com/office/drawing/2014/main" id="{D8AEE1F0-C767-435F-931E-C6409C1930EA}"/>
              </a:ext>
            </a:extLst>
          </p:cNvPr>
          <p:cNvSpPr>
            <a:spLocks xmlns:a="http://schemas.openxmlformats.org/drawingml/2006/main" noGrp="1"/>
          </p:cNvSpPr>
          <p:nvPr/>
        </p:nvSpPr>
        <p:spPr>
          <a:xfrm xmlns:a="http://schemas.openxmlformats.org/drawingml/2006/main">
            <a:off x="6343650" y="26098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5B82E"/>
                </a:solidFill>
                <a:latin typeface="Aptos"/>
                <a:ea typeface="Aptos"/>
                <a:cs typeface="Aptos"/>
              </a:defRPr>
            </a:pPr>
            <a:r>
              <a:rPr sz="1350" b="1">
                <a:solidFill>
                  <a:srgbClr val="F5B82E"/>
                </a:solidFill>
                <a:latin typeface="Aptos"/>
                <a:ea typeface="Aptos"/>
                <a:cs typeface="Aptos"/>
              </a:rPr>
              <a:t>COMMUNITY</a:t>
            </a:r>
          </a:p>
        </p:txBody>
      </p:sp>
      <p:sp>
        <p:nvSpPr>
          <p:cNvPr id="13" name="">
            <a:extLst xmlns:a="http://schemas.openxmlformats.org/drawingml/2006/main">
              <a:ext uri="{FF2B5EF4-FFF2-40B4-BE49-F238E27FC236}">
                <a16:creationId xmlns:a16="http://schemas.microsoft.com/office/drawing/2014/main" id="{40C14E18-E966-47CE-9624-BC82949B0E0C}"/>
              </a:ext>
            </a:extLst>
          </p:cNvPr>
          <p:cNvSpPr>
            <a:spLocks xmlns:a="http://schemas.openxmlformats.org/drawingml/2006/main" noGrp="1"/>
          </p:cNvSpPr>
          <p:nvPr/>
        </p:nvSpPr>
        <p:spPr>
          <a:xfrm xmlns:a="http://schemas.openxmlformats.org/drawingml/2006/main">
            <a:off x="6343650" y="3105150"/>
            <a:ext cx="2286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F7FAFC"/>
                </a:solidFill>
                <a:latin typeface="Aptos"/>
                <a:ea typeface="Aptos"/>
                <a:cs typeface="Aptos"/>
              </a:defRPr>
            </a:pPr>
            <a:r>
              <a:rPr sz="1650" b="0">
                <a:solidFill>
                  <a:srgbClr val="F7FAFC"/>
                </a:solidFill>
                <a:latin typeface="Aptos"/>
                <a:ea typeface="Aptos"/>
                <a:cs typeface="Aptos"/>
              </a:rPr>
              <a:t>Bring coordination and conversation into a first-party connected ecosystem.</a:t>
            </a:r>
          </a:p>
        </p:txBody>
      </p:sp>
      <p:sp>
        <p:nvSpPr>
          <p:cNvPr id="14" name="">
            <a:extLst xmlns:a="http://schemas.openxmlformats.org/drawingml/2006/main">
              <a:ext uri="{FF2B5EF4-FFF2-40B4-BE49-F238E27FC236}">
                <a16:creationId xmlns:a16="http://schemas.microsoft.com/office/drawing/2014/main" id="{B7495601-F0A4-467B-A392-E1CBCF706A6C}"/>
              </a:ext>
            </a:extLst>
          </p:cNvPr>
          <p:cNvSpPr>
            <a:spLocks xmlns:a="http://schemas.openxmlformats.org/drawingml/2006/main" noGrp="1"/>
          </p:cNvSpPr>
          <p:nvPr/>
        </p:nvSpPr>
        <p:spPr>
          <a:xfrm xmlns:a="http://schemas.openxmlformats.org/drawingml/2006/main">
            <a:off x="9182100" y="2305050"/>
            <a:ext cx="2286000" cy="66675"/>
          </a:xfrm>
          <a:prstGeom xmlns:a="http://schemas.openxmlformats.org/drawingml/2006/main" prst="rect">
            <a:avLst/>
          </a:prstGeom>
          <a:solidFill xmlns:a="http://schemas.openxmlformats.org/drawingml/2006/main">
            <a:srgbClr val="FF5D73"/>
          </a:solidFill>
          <a:ln xmlns:a="http://schemas.openxmlformats.org/drawingml/2006/main" w="11906">
            <a:solidFill>
              <a:srgbClr val="FF5D73"/>
            </a:solidFill>
            <a:prstDash val="solid"/>
          </a:ln>
        </p:spPr>
      </p:sp>
      <p:sp>
        <p:nvSpPr>
          <p:cNvPr id="15" name="">
            <a:extLst xmlns:a="http://schemas.openxmlformats.org/drawingml/2006/main">
              <a:ext uri="{FF2B5EF4-FFF2-40B4-BE49-F238E27FC236}">
                <a16:creationId xmlns:a16="http://schemas.microsoft.com/office/drawing/2014/main" id="{DE366244-68EE-4DBE-8B7E-D972958DE2F8}"/>
              </a:ext>
            </a:extLst>
          </p:cNvPr>
          <p:cNvSpPr>
            <a:spLocks xmlns:a="http://schemas.openxmlformats.org/drawingml/2006/main" noGrp="1"/>
          </p:cNvSpPr>
          <p:nvPr/>
        </p:nvSpPr>
        <p:spPr>
          <a:xfrm xmlns:a="http://schemas.openxmlformats.org/drawingml/2006/main">
            <a:off x="9182100" y="26098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F5D73"/>
                </a:solidFill>
                <a:latin typeface="Aptos"/>
                <a:ea typeface="Aptos"/>
                <a:cs typeface="Aptos"/>
              </a:defRPr>
            </a:pPr>
            <a:r>
              <a:rPr sz="1350" b="1">
                <a:solidFill>
                  <a:srgbClr val="FF5D73"/>
                </a:solidFill>
                <a:latin typeface="Aptos"/>
                <a:ea typeface="Aptos"/>
                <a:cs typeface="Aptos"/>
              </a:rPr>
              <a:t>DIFFERENTIATION</a:t>
            </a:r>
          </a:p>
        </p:txBody>
      </p:sp>
      <p:sp>
        <p:nvSpPr>
          <p:cNvPr id="16" name="">
            <a:extLst xmlns:a="http://schemas.openxmlformats.org/drawingml/2006/main">
              <a:ext uri="{FF2B5EF4-FFF2-40B4-BE49-F238E27FC236}">
                <a16:creationId xmlns:a16="http://schemas.microsoft.com/office/drawing/2014/main" id="{CD2479E4-F3DB-41D2-BA56-3834DD72250E}"/>
              </a:ext>
            </a:extLst>
          </p:cNvPr>
          <p:cNvSpPr>
            <a:spLocks xmlns:a="http://schemas.openxmlformats.org/drawingml/2006/main" noGrp="1"/>
          </p:cNvSpPr>
          <p:nvPr/>
        </p:nvSpPr>
        <p:spPr>
          <a:xfrm xmlns:a="http://schemas.openxmlformats.org/drawingml/2006/main">
            <a:off x="9182100" y="3105150"/>
            <a:ext cx="2286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F7FAFC"/>
                </a:solidFill>
                <a:latin typeface="Aptos"/>
                <a:ea typeface="Aptos"/>
                <a:cs typeface="Aptos"/>
              </a:defRPr>
            </a:pPr>
            <a:r>
              <a:rPr sz="1650" b="0">
                <a:solidFill>
                  <a:srgbClr val="F7FAFC"/>
                </a:solidFill>
                <a:latin typeface="Aptos"/>
                <a:ea typeface="Aptos"/>
                <a:cs typeface="Aptos"/>
              </a:rPr>
              <a:t>Give MyNBA and MyGM a persistent identity beyond the console session.</a:t>
            </a:r>
          </a:p>
        </p:txBody>
      </p:sp>
      <p:sp>
        <p:nvSpPr>
          <p:cNvPr id="17" name="">
            <a:extLst xmlns:a="http://schemas.openxmlformats.org/drawingml/2006/main">
              <a:ext uri="{FF2B5EF4-FFF2-40B4-BE49-F238E27FC236}">
                <a16:creationId xmlns:a16="http://schemas.microsoft.com/office/drawing/2014/main" id="{204223B9-99D4-4995-8061-EBD9F84063AF}"/>
              </a:ext>
            </a:extLst>
          </p:cNvPr>
          <p:cNvSpPr>
            <a:spLocks xmlns:a="http://schemas.openxmlformats.org/drawingml/2006/main" noGrp="1"/>
          </p:cNvSpPr>
          <p:nvPr/>
        </p:nvSpPr>
        <p:spPr>
          <a:xfrm xmlns:a="http://schemas.openxmlformats.org/drawingml/2006/main">
            <a:off x="666750" y="4953000"/>
            <a:ext cx="10839450" cy="800100"/>
          </a:xfrm>
          <a:prstGeom xmlns:a="http://schemas.openxmlformats.org/drawingml/2006/main" prst="roundRect">
            <a:avLst>
              <a:gd name="adj" fmla="val 14286"/>
            </a:avLst>
          </a:prstGeom>
          <a:solidFill xmlns:a="http://schemas.openxmlformats.org/drawingml/2006/main">
            <a:srgbClr val="0B1514"/>
          </a:solidFill>
          <a:ln xmlns:a="http://schemas.openxmlformats.org/drawingml/2006/main" w="11906">
            <a:solidFill>
              <a:srgbClr val="00E59B"/>
            </a:solidFill>
            <a:prstDash val="solid"/>
          </a:ln>
        </p:spPr>
      </p:sp>
      <p:sp>
        <p:nvSpPr>
          <p:cNvPr id="18" name="">
            <a:extLst xmlns:a="http://schemas.openxmlformats.org/drawingml/2006/main">
              <a:ext uri="{FF2B5EF4-FFF2-40B4-BE49-F238E27FC236}">
                <a16:creationId xmlns:a16="http://schemas.microsoft.com/office/drawing/2014/main" id="{399D4FFF-47C0-45EF-ABB7-D5BCA55F90E5}"/>
              </a:ext>
            </a:extLst>
          </p:cNvPr>
          <p:cNvSpPr>
            <a:spLocks xmlns:a="http://schemas.openxmlformats.org/drawingml/2006/main" noGrp="1"/>
          </p:cNvSpPr>
          <p:nvPr/>
        </p:nvSpPr>
        <p:spPr>
          <a:xfrm xmlns:a="http://schemas.openxmlformats.org/drawingml/2006/main">
            <a:off x="914400" y="5105400"/>
            <a:ext cx="1034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AFC"/>
                </a:solidFill>
                <a:latin typeface="Aptos"/>
                <a:ea typeface="Aptos"/>
                <a:cs typeface="Aptos"/>
              </a:defRPr>
            </a:pPr>
            <a:r>
              <a:rPr sz="1650" b="1">
                <a:solidFill>
                  <a:srgbClr val="F7FAFC"/>
                </a:solidFill>
                <a:latin typeface="Aptos"/>
                <a:ea typeface="Aptos"/>
                <a:cs typeface="Aptos"/>
              </a:rPr>
              <a:t>Precedent exists for connected console/mobile progression. Franchise Mobile applies that direction to franchise and community continuity.</a:t>
            </a:r>
          </a:p>
        </p:txBody>
      </p:sp>
      <p:sp>
        <p:nvSpPr>
          <p:cNvPr id="19" name="">
            <a:extLst xmlns:a="http://schemas.openxmlformats.org/drawingml/2006/main">
              <a:ext uri="{FF2B5EF4-FFF2-40B4-BE49-F238E27FC236}">
                <a16:creationId xmlns:a16="http://schemas.microsoft.com/office/drawing/2014/main" id="{FAB15417-B84F-40F1-AB11-6366A5AA3B9C}"/>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20" name="">
            <a:extLst xmlns:a="http://schemas.openxmlformats.org/drawingml/2006/main">
              <a:ext uri="{FF2B5EF4-FFF2-40B4-BE49-F238E27FC236}">
                <a16:creationId xmlns:a16="http://schemas.microsoft.com/office/drawing/2014/main" id="{881314D3-A79E-4881-9AC6-4A018A7F5E3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07</a:t>
            </a:r>
          </a:p>
        </p:txBody>
      </p:sp>
    </p:spTree>
    <p:extLst>
      <p:ext uri="{BB962C8B-B14F-4D97-AF65-F5344CB8AC3E}">
        <p14:creationId xmlns:p14="http://schemas.microsoft.com/office/powerpoint/2010/main" val="952187686"/>
      </p:ext>
    </p:extLst>
  </p:cSld>
</p:sld>
</file>

<file path=ppt/slides/slide8.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C5566D2-D1CE-4DE0-8961-96C1C613B2E6}"/>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EXPANSION ROADMAP</a:t>
            </a:r>
          </a:p>
        </p:txBody>
      </p:sp>
      <p:sp>
        <p:nvSpPr>
          <p:cNvPr id="2" name="">
            <a:extLst xmlns:a="http://schemas.openxmlformats.org/drawingml/2006/main">
              <a:ext uri="{FF2B5EF4-FFF2-40B4-BE49-F238E27FC236}">
                <a16:creationId xmlns:a16="http://schemas.microsoft.com/office/drawing/2014/main" id="{7E493EB8-DC7D-42CC-82C2-931FA64169B7}"/>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Start with franchise. Grow into the broader community.</a:t>
            </a:r>
          </a:p>
        </p:txBody>
      </p:sp>
      <p:sp>
        <p:nvSpPr>
          <p:cNvPr id="3" name="">
            <a:extLst xmlns:a="http://schemas.openxmlformats.org/drawingml/2006/main">
              <a:ext uri="{FF2B5EF4-FFF2-40B4-BE49-F238E27FC236}">
                <a16:creationId xmlns:a16="http://schemas.microsoft.com/office/drawing/2014/main" id="{8C4F2661-E8F3-4F74-9EAF-3C9A5257299A}"/>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MyNBA and MyGM provide the focused first integration; MyCAREER community is the strategic upside.</a:t>
            </a:r>
          </a:p>
        </p:txBody>
      </p:sp>
      <p:sp>
        <p:nvSpPr>
          <p:cNvPr id="4" name="">
            <a:extLst xmlns:a="http://schemas.openxmlformats.org/drawingml/2006/main">
              <a:ext uri="{FF2B5EF4-FFF2-40B4-BE49-F238E27FC236}">
                <a16:creationId xmlns:a16="http://schemas.microsoft.com/office/drawing/2014/main" id="{F63731DC-BF35-4144-8155-DAA8F825FF97}"/>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92D2616A-47E5-4B6D-92AC-891FEB6326D0}"/>
              </a:ext>
            </a:extLst>
          </p:cNvPr>
          <p:cNvSpPr>
            <a:spLocks xmlns:a="http://schemas.openxmlformats.org/drawingml/2006/main" noGrp="1"/>
          </p:cNvSpPr>
          <p:nvPr/>
        </p:nvSpPr>
        <p:spPr>
          <a:xfrm xmlns:a="http://schemas.openxmlformats.org/drawingml/2006/main">
            <a:off x="723900" y="21717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00E59B"/>
                </a:solidFill>
                <a:latin typeface="Aptos"/>
                <a:ea typeface="Aptos"/>
                <a:cs typeface="Aptos"/>
              </a:defRPr>
            </a:pPr>
            <a:r>
              <a:rPr sz="2250" b="1">
                <a:solidFill>
                  <a:srgbClr val="00E59B"/>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8A079B16-440F-47C0-B40E-93D75DF32836}"/>
              </a:ext>
            </a:extLst>
          </p:cNvPr>
          <p:cNvSpPr>
            <a:spLocks xmlns:a="http://schemas.openxmlformats.org/drawingml/2006/main" noGrp="1"/>
          </p:cNvSpPr>
          <p:nvPr/>
        </p:nvSpPr>
        <p:spPr>
          <a:xfrm xmlns:a="http://schemas.openxmlformats.org/drawingml/2006/main">
            <a:off x="1409700" y="2133600"/>
            <a:ext cx="9810750" cy="933450"/>
          </a:xfrm>
          <a:prstGeom xmlns:a="http://schemas.openxmlformats.org/drawingml/2006/main" prst="roundRect">
            <a:avLst>
              <a:gd name="adj" fmla="val 12245"/>
            </a:avLst>
          </a:prstGeom>
          <a:solidFill xmlns:a="http://schemas.openxmlformats.org/drawingml/2006/main">
            <a:srgbClr val="10171C"/>
          </a:solidFill>
          <a:ln xmlns:a="http://schemas.openxmlformats.org/drawingml/2006/main" w="11906">
            <a:solidFill>
              <a:srgbClr val="00E59B"/>
            </a:solidFill>
            <a:prstDash val="solid"/>
          </a:ln>
        </p:spPr>
      </p:sp>
      <p:sp>
        <p:nvSpPr>
          <p:cNvPr id="7" name="">
            <a:extLst xmlns:a="http://schemas.openxmlformats.org/drawingml/2006/main">
              <a:ext uri="{FF2B5EF4-FFF2-40B4-BE49-F238E27FC236}">
                <a16:creationId xmlns:a16="http://schemas.microsoft.com/office/drawing/2014/main" id="{B4603308-C6D1-4AFF-AD8A-068F5A5AA85C}"/>
              </a:ext>
            </a:extLst>
          </p:cNvPr>
          <p:cNvSpPr>
            <a:spLocks xmlns:a="http://schemas.openxmlformats.org/drawingml/2006/main" noGrp="1"/>
          </p:cNvSpPr>
          <p:nvPr/>
        </p:nvSpPr>
        <p:spPr>
          <a:xfrm xmlns:a="http://schemas.openxmlformats.org/drawingml/2006/main">
            <a:off x="1657350" y="22479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00E59B"/>
                </a:solidFill>
                <a:latin typeface="Aptos"/>
                <a:ea typeface="Aptos"/>
                <a:cs typeface="Aptos"/>
              </a:defRPr>
            </a:pPr>
            <a:r>
              <a:rPr sz="1650" b="1">
                <a:solidFill>
                  <a:srgbClr val="00E59B"/>
                </a:solidFill>
                <a:latin typeface="Aptos"/>
                <a:ea typeface="Aptos"/>
                <a:cs typeface="Aptos"/>
              </a:rPr>
              <a:t>CONNECTED FRANCHISE</a:t>
            </a:r>
          </a:p>
        </p:txBody>
      </p:sp>
      <p:sp>
        <p:nvSpPr>
          <p:cNvPr id="8" name="">
            <a:extLst xmlns:a="http://schemas.openxmlformats.org/drawingml/2006/main">
              <a:ext uri="{FF2B5EF4-FFF2-40B4-BE49-F238E27FC236}">
                <a16:creationId xmlns:a16="http://schemas.microsoft.com/office/drawing/2014/main" id="{DAA67FDC-9308-4086-89C5-493C10A9C261}"/>
              </a:ext>
            </a:extLst>
          </p:cNvPr>
          <p:cNvSpPr>
            <a:spLocks xmlns:a="http://schemas.openxmlformats.org/drawingml/2006/main" noGrp="1"/>
          </p:cNvSpPr>
          <p:nvPr/>
        </p:nvSpPr>
        <p:spPr>
          <a:xfrm xmlns:a="http://schemas.openxmlformats.org/drawingml/2006/main">
            <a:off x="4857750" y="2209800"/>
            <a:ext cx="600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MyNBA / MyGM league management, commissioner tools, schedules, trades, results, and social activity.</a:t>
            </a:r>
          </a:p>
        </p:txBody>
      </p:sp>
      <p:sp>
        <p:nvSpPr>
          <p:cNvPr id="9" name="">
            <a:extLst xmlns:a="http://schemas.openxmlformats.org/drawingml/2006/main">
              <a:ext uri="{FF2B5EF4-FFF2-40B4-BE49-F238E27FC236}">
                <a16:creationId xmlns:a16="http://schemas.microsoft.com/office/drawing/2014/main" id="{2C07C446-2F1D-4AD9-82A0-E810DC3013F9}"/>
              </a:ext>
            </a:extLst>
          </p:cNvPr>
          <p:cNvSpPr>
            <a:spLocks xmlns:a="http://schemas.openxmlformats.org/drawingml/2006/main" noGrp="1"/>
          </p:cNvSpPr>
          <p:nvPr/>
        </p:nvSpPr>
        <p:spPr>
          <a:xfrm xmlns:a="http://schemas.openxmlformats.org/drawingml/2006/main">
            <a:off x="723900" y="34290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35C7F0"/>
                </a:solidFill>
                <a:latin typeface="Aptos"/>
                <a:ea typeface="Aptos"/>
                <a:cs typeface="Aptos"/>
              </a:defRPr>
            </a:pPr>
            <a:r>
              <a:rPr sz="2250" b="1">
                <a:solidFill>
                  <a:srgbClr val="35C7F0"/>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C343ECE6-C7D8-4405-A792-0D9AA7C1DB7E}"/>
              </a:ext>
            </a:extLst>
          </p:cNvPr>
          <p:cNvSpPr>
            <a:spLocks xmlns:a="http://schemas.openxmlformats.org/drawingml/2006/main" noGrp="1"/>
          </p:cNvSpPr>
          <p:nvPr/>
        </p:nvSpPr>
        <p:spPr>
          <a:xfrm xmlns:a="http://schemas.openxmlformats.org/drawingml/2006/main">
            <a:off x="1409700" y="3390900"/>
            <a:ext cx="9810750" cy="933450"/>
          </a:xfrm>
          <a:prstGeom xmlns:a="http://schemas.openxmlformats.org/drawingml/2006/main" prst="roundRect">
            <a:avLst>
              <a:gd name="adj" fmla="val 12245"/>
            </a:avLst>
          </a:prstGeom>
          <a:solidFill xmlns:a="http://schemas.openxmlformats.org/drawingml/2006/main">
            <a:srgbClr val="10171C"/>
          </a:solidFill>
          <a:ln xmlns:a="http://schemas.openxmlformats.org/drawingml/2006/main" w="11906">
            <a:solidFill>
              <a:srgbClr val="35C7F0"/>
            </a:solidFill>
            <a:prstDash val="solid"/>
          </a:ln>
        </p:spPr>
      </p:sp>
      <p:sp>
        <p:nvSpPr>
          <p:cNvPr id="11" name="">
            <a:extLst xmlns:a="http://schemas.openxmlformats.org/drawingml/2006/main">
              <a:ext uri="{FF2B5EF4-FFF2-40B4-BE49-F238E27FC236}">
                <a16:creationId xmlns:a16="http://schemas.microsoft.com/office/drawing/2014/main" id="{F831712E-FB04-4CDF-8EFC-67A6A9501179}"/>
              </a:ext>
            </a:extLst>
          </p:cNvPr>
          <p:cNvSpPr>
            <a:spLocks xmlns:a="http://schemas.openxmlformats.org/drawingml/2006/main" noGrp="1"/>
          </p:cNvSpPr>
          <p:nvPr/>
        </p:nvSpPr>
        <p:spPr>
          <a:xfrm xmlns:a="http://schemas.openxmlformats.org/drawingml/2006/main">
            <a:off x="1657350" y="35052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35C7F0"/>
                </a:solidFill>
                <a:latin typeface="Aptos"/>
                <a:ea typeface="Aptos"/>
                <a:cs typeface="Aptos"/>
              </a:defRPr>
            </a:pPr>
            <a:r>
              <a:rPr sz="1650" b="1">
                <a:solidFill>
                  <a:srgbClr val="35C7F0"/>
                </a:solidFill>
                <a:latin typeface="Aptos"/>
                <a:ea typeface="Aptos"/>
                <a:cs typeface="Aptos"/>
              </a:rPr>
              <a:t>ORGANIZED PLAY</a:t>
            </a:r>
          </a:p>
        </p:txBody>
      </p:sp>
      <p:sp>
        <p:nvSpPr>
          <p:cNvPr id="12" name="">
            <a:extLst xmlns:a="http://schemas.openxmlformats.org/drawingml/2006/main">
              <a:ext uri="{FF2B5EF4-FFF2-40B4-BE49-F238E27FC236}">
                <a16:creationId xmlns:a16="http://schemas.microsoft.com/office/drawing/2014/main" id="{8D1FD545-CA39-42EB-932D-F627F267D4A4}"/>
              </a:ext>
            </a:extLst>
          </p:cNvPr>
          <p:cNvSpPr>
            <a:spLocks xmlns:a="http://schemas.openxmlformats.org/drawingml/2006/main" noGrp="1"/>
          </p:cNvSpPr>
          <p:nvPr/>
        </p:nvSpPr>
        <p:spPr>
          <a:xfrm xmlns:a="http://schemas.openxmlformats.org/drawingml/2006/main">
            <a:off x="4857750" y="3467100"/>
            <a:ext cx="600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Creator leagues, community events, availability, matchup scheduling, groups, and persistent rivalry history.</a:t>
            </a:r>
          </a:p>
        </p:txBody>
      </p:sp>
      <p:sp>
        <p:nvSpPr>
          <p:cNvPr id="13" name="">
            <a:extLst xmlns:a="http://schemas.openxmlformats.org/drawingml/2006/main">
              <a:ext uri="{FF2B5EF4-FFF2-40B4-BE49-F238E27FC236}">
                <a16:creationId xmlns:a16="http://schemas.microsoft.com/office/drawing/2014/main" id="{AC8722C7-49A4-4231-9D70-4C12C642B871}"/>
              </a:ext>
            </a:extLst>
          </p:cNvPr>
          <p:cNvSpPr>
            <a:spLocks xmlns:a="http://schemas.openxmlformats.org/drawingml/2006/main" noGrp="1"/>
          </p:cNvSpPr>
          <p:nvPr/>
        </p:nvSpPr>
        <p:spPr>
          <a:xfrm xmlns:a="http://schemas.openxmlformats.org/drawingml/2006/main">
            <a:off x="723900" y="46863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F5B82E"/>
                </a:solidFill>
                <a:latin typeface="Aptos"/>
                <a:ea typeface="Aptos"/>
                <a:cs typeface="Aptos"/>
              </a:defRPr>
            </a:pPr>
            <a:r>
              <a:rPr sz="2250" b="1">
                <a:solidFill>
                  <a:srgbClr val="F5B82E"/>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C92125C3-E64A-4DEA-99F0-42842D467082}"/>
              </a:ext>
            </a:extLst>
          </p:cNvPr>
          <p:cNvSpPr>
            <a:spLocks xmlns:a="http://schemas.openxmlformats.org/drawingml/2006/main" noGrp="1"/>
          </p:cNvSpPr>
          <p:nvPr/>
        </p:nvSpPr>
        <p:spPr>
          <a:xfrm xmlns:a="http://schemas.openxmlformats.org/drawingml/2006/main">
            <a:off x="1409700" y="4648200"/>
            <a:ext cx="9810750" cy="933450"/>
          </a:xfrm>
          <a:prstGeom xmlns:a="http://schemas.openxmlformats.org/drawingml/2006/main" prst="roundRect">
            <a:avLst>
              <a:gd name="adj" fmla="val 12245"/>
            </a:avLst>
          </a:prstGeom>
          <a:solidFill xmlns:a="http://schemas.openxmlformats.org/drawingml/2006/main">
            <a:srgbClr val="10171C"/>
          </a:solidFill>
          <a:ln xmlns:a="http://schemas.openxmlformats.org/drawingml/2006/main" w="11906">
            <a:solidFill>
              <a:srgbClr val="F5B82E"/>
            </a:solidFill>
            <a:prstDash val="solid"/>
          </a:ln>
        </p:spPr>
      </p:sp>
      <p:sp>
        <p:nvSpPr>
          <p:cNvPr id="15" name="">
            <a:extLst xmlns:a="http://schemas.openxmlformats.org/drawingml/2006/main">
              <a:ext uri="{FF2B5EF4-FFF2-40B4-BE49-F238E27FC236}">
                <a16:creationId xmlns:a16="http://schemas.microsoft.com/office/drawing/2014/main" id="{D0D9D96E-D749-466F-BF05-3EEE3B261003}"/>
              </a:ext>
            </a:extLst>
          </p:cNvPr>
          <p:cNvSpPr>
            <a:spLocks xmlns:a="http://schemas.openxmlformats.org/drawingml/2006/main" noGrp="1"/>
          </p:cNvSpPr>
          <p:nvPr/>
        </p:nvSpPr>
        <p:spPr>
          <a:xfrm xmlns:a="http://schemas.openxmlformats.org/drawingml/2006/main">
            <a:off x="1657350" y="47625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F5B82E"/>
                </a:solidFill>
                <a:latin typeface="Aptos"/>
                <a:ea typeface="Aptos"/>
                <a:cs typeface="Aptos"/>
              </a:defRPr>
            </a:pPr>
            <a:r>
              <a:rPr sz="1650" b="1">
                <a:solidFill>
                  <a:srgbClr val="F5B82E"/>
                </a:solidFill>
                <a:latin typeface="Aptos"/>
                <a:ea typeface="Aptos"/>
                <a:cs typeface="Aptos"/>
              </a:rPr>
              <a:t>MyCAREER COMMUNITY</a:t>
            </a:r>
          </a:p>
        </p:txBody>
      </p:sp>
      <p:sp>
        <p:nvSpPr>
          <p:cNvPr id="16" name="">
            <a:extLst xmlns:a="http://schemas.openxmlformats.org/drawingml/2006/main">
              <a:ext uri="{FF2B5EF4-FFF2-40B4-BE49-F238E27FC236}">
                <a16:creationId xmlns:a16="http://schemas.microsoft.com/office/drawing/2014/main" id="{2486A496-831F-42E1-8275-692EB7A91512}"/>
              </a:ext>
            </a:extLst>
          </p:cNvPr>
          <p:cNvSpPr>
            <a:spLocks xmlns:a="http://schemas.openxmlformats.org/drawingml/2006/main" noGrp="1"/>
          </p:cNvSpPr>
          <p:nvPr/>
        </p:nvSpPr>
        <p:spPr>
          <a:xfrm xmlns:a="http://schemas.openxmlformats.org/drawingml/2006/main">
            <a:off x="4857750" y="4724400"/>
            <a:ext cx="600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F7FAFC"/>
                </a:solidFill>
                <a:latin typeface="Aptos"/>
                <a:ea typeface="Aptos"/>
                <a:cs typeface="Aptos"/>
              </a:defRPr>
            </a:pPr>
            <a:r>
              <a:rPr sz="1425" b="0">
                <a:solidFill>
                  <a:srgbClr val="F7FAFC"/>
                </a:solidFill>
                <a:latin typeface="Aptos"/>
                <a:ea typeface="Aptos"/>
                <a:cs typeface="Aptos"/>
              </a:rPr>
              <a:t>Teammate discovery, squads, player identity, scheduled sessions, and community coordination outside console.</a:t>
            </a:r>
          </a:p>
        </p:txBody>
      </p:sp>
      <p:sp>
        <p:nvSpPr>
          <p:cNvPr id="17" name="">
            <a:extLst xmlns:a="http://schemas.openxmlformats.org/drawingml/2006/main">
              <a:ext uri="{FF2B5EF4-FFF2-40B4-BE49-F238E27FC236}">
                <a16:creationId xmlns:a16="http://schemas.microsoft.com/office/drawing/2014/main" id="{80284F5E-2E3B-45BA-8CD4-1A2BAED6FC33}"/>
              </a:ext>
            </a:extLst>
          </p:cNvPr>
          <p:cNvSpPr>
            <a:spLocks xmlns:a="http://schemas.openxmlformats.org/drawingml/2006/main" noGrp="1"/>
          </p:cNvSpPr>
          <p:nvPr/>
        </p:nvSpPr>
        <p:spPr>
          <a:xfrm xmlns:a="http://schemas.openxmlformats.org/drawingml/2006/main">
            <a:off x="7239000" y="59626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125" b="1">
                <a:solidFill>
                  <a:srgbClr val="A8B5BD"/>
                </a:solidFill>
                <a:latin typeface="Aptos"/>
                <a:ea typeface="Aptos"/>
                <a:cs typeface="Aptos"/>
              </a:defRPr>
            </a:pPr>
            <a:r>
              <a:rPr sz="1125" b="1">
                <a:solidFill>
                  <a:srgbClr val="A8B5BD"/>
                </a:solidFill>
                <a:latin typeface="Aptos"/>
                <a:ea typeface="Aptos"/>
                <a:cs typeface="Aptos"/>
              </a:rPr>
              <a:t>Roadmap only — not represented as current functionality.</a:t>
            </a:r>
          </a:p>
        </p:txBody>
      </p:sp>
      <p:sp>
        <p:nvSpPr>
          <p:cNvPr id="18" name="">
            <a:extLst xmlns:a="http://schemas.openxmlformats.org/drawingml/2006/main">
              <a:ext uri="{FF2B5EF4-FFF2-40B4-BE49-F238E27FC236}">
                <a16:creationId xmlns:a16="http://schemas.microsoft.com/office/drawing/2014/main" id="{5A53A73B-5EF7-4C15-A62C-7402BE77DADE}"/>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19" name="">
            <a:extLst xmlns:a="http://schemas.openxmlformats.org/drawingml/2006/main">
              <a:ext uri="{FF2B5EF4-FFF2-40B4-BE49-F238E27FC236}">
                <a16:creationId xmlns:a16="http://schemas.microsoft.com/office/drawing/2014/main" id="{042B7EB5-CDCD-4B1E-806A-211E50B5E039}"/>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08</a:t>
            </a:r>
          </a:p>
        </p:txBody>
      </p:sp>
    </p:spTree>
    <p:extLst>
      <p:ext uri="{BB962C8B-B14F-4D97-AF65-F5344CB8AC3E}">
        <p14:creationId xmlns:p14="http://schemas.microsoft.com/office/powerpoint/2010/main" val="356256745"/>
      </p:ext>
    </p:extLst>
  </p:cSld>
</p:sld>
</file>

<file path=ppt/slides/slide9.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AA3D355-55C6-4EC7-AC7A-515EC55826A6}"/>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FOCUSED PILOT</a:t>
            </a:r>
          </a:p>
        </p:txBody>
      </p:sp>
      <p:sp>
        <p:nvSpPr>
          <p:cNvPr id="2" name="">
            <a:extLst xmlns:a="http://schemas.openxmlformats.org/drawingml/2006/main">
              <a:ext uri="{FF2B5EF4-FFF2-40B4-BE49-F238E27FC236}">
                <a16:creationId xmlns:a16="http://schemas.microsoft.com/office/drawing/2014/main" id="{776FA0C7-A787-4340-A808-E4F840998AF0}"/>
              </a:ext>
            </a:extLst>
          </p:cNvPr>
          <p:cNvSpPr>
            <a:spLocks xmlns:a="http://schemas.openxmlformats.org/drawingml/2006/main" noGrp="1"/>
          </p:cNvSpPr>
          <p:nvPr/>
        </p:nvSpPr>
        <p:spPr>
          <a:xfrm xmlns:a="http://schemas.openxmlformats.org/drawingml/2006/main">
            <a:off x="609600" y="6858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850" b="1">
                <a:solidFill>
                  <a:srgbClr val="F7FAFC"/>
                </a:solidFill>
                <a:latin typeface="Aptos"/>
                <a:ea typeface="Aptos"/>
                <a:cs typeface="Aptos"/>
              </a:defRPr>
            </a:pPr>
            <a:r>
              <a:rPr sz="2850" b="1">
                <a:solidFill>
                  <a:srgbClr val="F7FAFC"/>
                </a:solidFill>
                <a:latin typeface="Aptos"/>
                <a:ea typeface="Aptos"/>
                <a:cs typeface="Aptos"/>
              </a:rPr>
              <a:t>Prove the connected loop before scaling it.</a:t>
            </a:r>
          </a:p>
        </p:txBody>
      </p:sp>
      <p:sp>
        <p:nvSpPr>
          <p:cNvPr id="3" name="">
            <a:extLst xmlns:a="http://schemas.openxmlformats.org/drawingml/2006/main">
              <a:ext uri="{FF2B5EF4-FFF2-40B4-BE49-F238E27FC236}">
                <a16:creationId xmlns:a16="http://schemas.microsoft.com/office/drawing/2014/main" id="{E1E2B2A4-A432-44ED-B91D-DFDE1A61B325}"/>
              </a:ext>
            </a:extLst>
          </p:cNvPr>
          <p:cNvSpPr>
            <a:spLocks xmlns:a="http://schemas.openxmlformats.org/drawingml/2006/main" noGrp="1"/>
          </p:cNvSpPr>
          <p:nvPr/>
        </p:nvSpPr>
        <p:spPr>
          <a:xfrm xmlns:a="http://schemas.openxmlformats.org/drawingml/2006/main">
            <a:off x="609600" y="13144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A narrow evaluation can answer product, technical, security, and community questions without exposing proprietary implementation.</a:t>
            </a:r>
          </a:p>
        </p:txBody>
      </p:sp>
      <p:sp>
        <p:nvSpPr>
          <p:cNvPr id="4" name="">
            <a:extLst xmlns:a="http://schemas.openxmlformats.org/drawingml/2006/main">
              <a:ext uri="{FF2B5EF4-FFF2-40B4-BE49-F238E27FC236}">
                <a16:creationId xmlns:a16="http://schemas.microsoft.com/office/drawing/2014/main" id="{F9B61B9A-2070-4E32-8991-5F7F3BE3F067}"/>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26343C"/>
          </a:solidFill>
          <a:ln xmlns:a="http://schemas.openxmlformats.org/drawingml/2006/main" w="11906">
            <a:solidFill>
              <a:srgbClr val="26343C"/>
            </a:solidFill>
            <a:prstDash val="solid"/>
          </a:ln>
        </p:spPr>
      </p:sp>
      <p:sp>
        <p:nvSpPr>
          <p:cNvPr id="5" name="">
            <a:extLst xmlns:a="http://schemas.openxmlformats.org/drawingml/2006/main">
              <a:ext uri="{FF2B5EF4-FFF2-40B4-BE49-F238E27FC236}">
                <a16:creationId xmlns:a16="http://schemas.microsoft.com/office/drawing/2014/main" id="{9D146554-AD6F-4C40-8D09-513139B25028}"/>
              </a:ext>
            </a:extLst>
          </p:cNvPr>
          <p:cNvSpPr>
            <a:spLocks xmlns:a="http://schemas.openxmlformats.org/drawingml/2006/main" noGrp="1"/>
          </p:cNvSpPr>
          <p:nvPr/>
        </p:nvSpPr>
        <p:spPr>
          <a:xfrm xmlns:a="http://schemas.openxmlformats.org/drawingml/2006/main">
            <a:off x="666750" y="2266950"/>
            <a:ext cx="2381250" cy="2952750"/>
          </a:xfrm>
          <a:prstGeom xmlns:a="http://schemas.openxmlformats.org/drawingml/2006/main" prst="roundRect">
            <a:avLst>
              <a:gd name="adj" fmla="val 4800"/>
            </a:avLst>
          </a:prstGeom>
          <a:solidFill xmlns:a="http://schemas.openxmlformats.org/drawingml/2006/main">
            <a:srgbClr val="10171C"/>
          </a:solidFill>
          <a:ln xmlns:a="http://schemas.openxmlformats.org/drawingml/2006/main" w="11906">
            <a:solidFill>
              <a:srgbClr val="26343C"/>
            </a:solidFill>
            <a:prstDash val="solid"/>
          </a:ln>
        </p:spPr>
      </p:sp>
      <p:sp>
        <p:nvSpPr>
          <p:cNvPr id="6" name="">
            <a:extLst xmlns:a="http://schemas.openxmlformats.org/drawingml/2006/main">
              <a:ext uri="{FF2B5EF4-FFF2-40B4-BE49-F238E27FC236}">
                <a16:creationId xmlns:a16="http://schemas.microsoft.com/office/drawing/2014/main" id="{0EDA4C0D-F137-448F-8632-8B0A71BF4BA6}"/>
              </a:ext>
            </a:extLst>
          </p:cNvPr>
          <p:cNvSpPr>
            <a:spLocks xmlns:a="http://schemas.openxmlformats.org/drawingml/2006/main" noGrp="1"/>
          </p:cNvSpPr>
          <p:nvPr/>
        </p:nvSpPr>
        <p:spPr>
          <a:xfrm xmlns:a="http://schemas.openxmlformats.org/drawingml/2006/main">
            <a:off x="857250" y="2476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35C7F0"/>
                </a:solidFill>
                <a:latin typeface="Aptos"/>
                <a:ea typeface="Aptos"/>
                <a:cs typeface="Aptos"/>
              </a:defRPr>
            </a:pPr>
            <a:r>
              <a:rPr sz="2100" b="1">
                <a:solidFill>
                  <a:srgbClr val="35C7F0"/>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F0F7311A-6660-43A0-B1D5-DDDF04FDEB46}"/>
              </a:ext>
            </a:extLst>
          </p:cNvPr>
          <p:cNvSpPr>
            <a:spLocks xmlns:a="http://schemas.openxmlformats.org/drawingml/2006/main" noGrp="1"/>
          </p:cNvSpPr>
          <p:nvPr/>
        </p:nvSpPr>
        <p:spPr>
          <a:xfrm xmlns:a="http://schemas.openxmlformats.org/drawingml/2006/main">
            <a:off x="857250" y="30861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7FAFC"/>
                </a:solidFill>
                <a:latin typeface="Aptos"/>
                <a:ea typeface="Aptos"/>
                <a:cs typeface="Aptos"/>
              </a:defRPr>
            </a:pPr>
            <a:r>
              <a:rPr sz="1500" b="1">
                <a:solidFill>
                  <a:srgbClr val="F7FAFC"/>
                </a:solidFill>
                <a:latin typeface="Aptos"/>
                <a:ea typeface="Aptos"/>
                <a:cs typeface="Aptos"/>
              </a:rPr>
              <a:t>PRODUCT WORKSHOP</a:t>
            </a:r>
          </a:p>
        </p:txBody>
      </p:sp>
      <p:sp>
        <p:nvSpPr>
          <p:cNvPr id="8" name="">
            <a:extLst xmlns:a="http://schemas.openxmlformats.org/drawingml/2006/main">
              <a:ext uri="{FF2B5EF4-FFF2-40B4-BE49-F238E27FC236}">
                <a16:creationId xmlns:a16="http://schemas.microsoft.com/office/drawing/2014/main" id="{9D0F66CA-D56A-47A8-968F-0A3D43CA4EEE}"/>
              </a:ext>
            </a:extLst>
          </p:cNvPr>
          <p:cNvSpPr>
            <a:spLocks xmlns:a="http://schemas.openxmlformats.org/drawingml/2006/main" noGrp="1"/>
          </p:cNvSpPr>
          <p:nvPr/>
        </p:nvSpPr>
        <p:spPr>
          <a:xfrm xmlns:a="http://schemas.openxmlformats.org/drawingml/2006/main">
            <a:off x="857250" y="3733800"/>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A8B5BD"/>
                </a:solidFill>
                <a:latin typeface="Aptos"/>
                <a:ea typeface="Aptos"/>
                <a:cs typeface="Aptos"/>
              </a:defRPr>
            </a:pPr>
            <a:r>
              <a:rPr sz="1425" b="0">
                <a:solidFill>
                  <a:srgbClr val="A8B5BD"/>
                </a:solidFill>
                <a:latin typeface="Aptos"/>
                <a:ea typeface="Aptos"/>
                <a:cs typeface="Aptos"/>
              </a:rPr>
              <a:t>Align on one target league workflow and success criteria.</a:t>
            </a:r>
          </a:p>
        </p:txBody>
      </p:sp>
      <p:sp>
        <p:nvSpPr>
          <p:cNvPr id="9" name="">
            <a:extLst xmlns:a="http://schemas.openxmlformats.org/drawingml/2006/main">
              <a:ext uri="{FF2B5EF4-FFF2-40B4-BE49-F238E27FC236}">
                <a16:creationId xmlns:a16="http://schemas.microsoft.com/office/drawing/2014/main" id="{F9CBE305-3A4E-4105-A2FC-4EC16C599951}"/>
              </a:ext>
            </a:extLst>
          </p:cNvPr>
          <p:cNvSpPr>
            <a:spLocks xmlns:a="http://schemas.openxmlformats.org/drawingml/2006/main" noGrp="1"/>
          </p:cNvSpPr>
          <p:nvPr/>
        </p:nvSpPr>
        <p:spPr>
          <a:xfrm xmlns:a="http://schemas.openxmlformats.org/drawingml/2006/main">
            <a:off x="3505200" y="2266950"/>
            <a:ext cx="2381250" cy="2952750"/>
          </a:xfrm>
          <a:prstGeom xmlns:a="http://schemas.openxmlformats.org/drawingml/2006/main" prst="roundRect">
            <a:avLst>
              <a:gd name="adj" fmla="val 4800"/>
            </a:avLst>
          </a:prstGeom>
          <a:solidFill xmlns:a="http://schemas.openxmlformats.org/drawingml/2006/main">
            <a:srgbClr val="10171C"/>
          </a:solidFill>
          <a:ln xmlns:a="http://schemas.openxmlformats.org/drawingml/2006/main" w="11906">
            <a:solidFill>
              <a:srgbClr val="26343C"/>
            </a:solidFill>
            <a:prstDash val="solid"/>
          </a:ln>
        </p:spPr>
      </p:sp>
      <p:sp>
        <p:nvSpPr>
          <p:cNvPr id="10" name="">
            <a:extLst xmlns:a="http://schemas.openxmlformats.org/drawingml/2006/main">
              <a:ext uri="{FF2B5EF4-FFF2-40B4-BE49-F238E27FC236}">
                <a16:creationId xmlns:a16="http://schemas.microsoft.com/office/drawing/2014/main" id="{81587D64-4C9D-4279-AFFE-47664437058E}"/>
              </a:ext>
            </a:extLst>
          </p:cNvPr>
          <p:cNvSpPr>
            <a:spLocks xmlns:a="http://schemas.openxmlformats.org/drawingml/2006/main" noGrp="1"/>
          </p:cNvSpPr>
          <p:nvPr/>
        </p:nvSpPr>
        <p:spPr>
          <a:xfrm xmlns:a="http://schemas.openxmlformats.org/drawingml/2006/main">
            <a:off x="3695700" y="2476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35C7F0"/>
                </a:solidFill>
                <a:latin typeface="Aptos"/>
                <a:ea typeface="Aptos"/>
                <a:cs typeface="Aptos"/>
              </a:defRPr>
            </a:pPr>
            <a:r>
              <a:rPr sz="2100" b="1">
                <a:solidFill>
                  <a:srgbClr val="35C7F0"/>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2136AF95-D71C-445B-B13A-CE15074B67AF}"/>
              </a:ext>
            </a:extLst>
          </p:cNvPr>
          <p:cNvSpPr>
            <a:spLocks xmlns:a="http://schemas.openxmlformats.org/drawingml/2006/main" noGrp="1"/>
          </p:cNvSpPr>
          <p:nvPr/>
        </p:nvSpPr>
        <p:spPr>
          <a:xfrm xmlns:a="http://schemas.openxmlformats.org/drawingml/2006/main">
            <a:off x="3695700" y="30861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7FAFC"/>
                </a:solidFill>
                <a:latin typeface="Aptos"/>
                <a:ea typeface="Aptos"/>
                <a:cs typeface="Aptos"/>
              </a:defRPr>
            </a:pPr>
            <a:r>
              <a:rPr sz="1500" b="1">
                <a:solidFill>
                  <a:srgbClr val="F7FAFC"/>
                </a:solidFill>
                <a:latin typeface="Aptos"/>
                <a:ea typeface="Aptos"/>
                <a:cs typeface="Aptos"/>
              </a:rPr>
              <a:t>TECHNICAL DISCOVERY</a:t>
            </a:r>
          </a:p>
        </p:txBody>
      </p:sp>
      <p:sp>
        <p:nvSpPr>
          <p:cNvPr id="12" name="">
            <a:extLst xmlns:a="http://schemas.openxmlformats.org/drawingml/2006/main">
              <a:ext uri="{FF2B5EF4-FFF2-40B4-BE49-F238E27FC236}">
                <a16:creationId xmlns:a16="http://schemas.microsoft.com/office/drawing/2014/main" id="{7A4ED2BA-CA03-44EE-B39C-F6C16DBB0C99}"/>
              </a:ext>
            </a:extLst>
          </p:cNvPr>
          <p:cNvSpPr>
            <a:spLocks xmlns:a="http://schemas.openxmlformats.org/drawingml/2006/main" noGrp="1"/>
          </p:cNvSpPr>
          <p:nvPr/>
        </p:nvSpPr>
        <p:spPr>
          <a:xfrm xmlns:a="http://schemas.openxmlformats.org/drawingml/2006/main">
            <a:off x="3695700" y="3733800"/>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A8B5BD"/>
                </a:solidFill>
                <a:latin typeface="Aptos"/>
                <a:ea typeface="Aptos"/>
                <a:cs typeface="Aptos"/>
              </a:defRPr>
            </a:pPr>
            <a:r>
              <a:rPr sz="1425" b="0">
                <a:solidFill>
                  <a:srgbClr val="A8B5BD"/>
                </a:solidFill>
                <a:latin typeface="Aptos"/>
                <a:ea typeface="Aptos"/>
                <a:cs typeface="Aptos"/>
              </a:rPr>
              <a:t>Define account linking, permissions, event sync, and server authority.</a:t>
            </a:r>
          </a:p>
        </p:txBody>
      </p:sp>
      <p:sp>
        <p:nvSpPr>
          <p:cNvPr id="13" name="">
            <a:extLst xmlns:a="http://schemas.openxmlformats.org/drawingml/2006/main">
              <a:ext uri="{FF2B5EF4-FFF2-40B4-BE49-F238E27FC236}">
                <a16:creationId xmlns:a16="http://schemas.microsoft.com/office/drawing/2014/main" id="{CD822965-5A9D-4B70-A46D-AE3F0A1FA505}"/>
              </a:ext>
            </a:extLst>
          </p:cNvPr>
          <p:cNvSpPr>
            <a:spLocks xmlns:a="http://schemas.openxmlformats.org/drawingml/2006/main" noGrp="1"/>
          </p:cNvSpPr>
          <p:nvPr/>
        </p:nvSpPr>
        <p:spPr>
          <a:xfrm xmlns:a="http://schemas.openxmlformats.org/drawingml/2006/main">
            <a:off x="6343650" y="2266950"/>
            <a:ext cx="2381250" cy="2952750"/>
          </a:xfrm>
          <a:prstGeom xmlns:a="http://schemas.openxmlformats.org/drawingml/2006/main" prst="roundRect">
            <a:avLst>
              <a:gd name="adj" fmla="val 4800"/>
            </a:avLst>
          </a:prstGeom>
          <a:solidFill xmlns:a="http://schemas.openxmlformats.org/drawingml/2006/main">
            <a:srgbClr val="10171C"/>
          </a:solidFill>
          <a:ln xmlns:a="http://schemas.openxmlformats.org/drawingml/2006/main" w="11906">
            <a:solidFill>
              <a:srgbClr val="26343C"/>
            </a:solidFill>
            <a:prstDash val="solid"/>
          </a:ln>
        </p:spPr>
      </p:sp>
      <p:sp>
        <p:nvSpPr>
          <p:cNvPr id="14" name="">
            <a:extLst xmlns:a="http://schemas.openxmlformats.org/drawingml/2006/main">
              <a:ext uri="{FF2B5EF4-FFF2-40B4-BE49-F238E27FC236}">
                <a16:creationId xmlns:a16="http://schemas.microsoft.com/office/drawing/2014/main" id="{48AF0A57-9A66-46FC-B8EA-7A61DC5DE5C4}"/>
              </a:ext>
            </a:extLst>
          </p:cNvPr>
          <p:cNvSpPr>
            <a:spLocks xmlns:a="http://schemas.openxmlformats.org/drawingml/2006/main" noGrp="1"/>
          </p:cNvSpPr>
          <p:nvPr/>
        </p:nvSpPr>
        <p:spPr>
          <a:xfrm xmlns:a="http://schemas.openxmlformats.org/drawingml/2006/main">
            <a:off x="6534150" y="2476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35C7F0"/>
                </a:solidFill>
                <a:latin typeface="Aptos"/>
                <a:ea typeface="Aptos"/>
                <a:cs typeface="Aptos"/>
              </a:defRPr>
            </a:pPr>
            <a:r>
              <a:rPr sz="2100" b="1">
                <a:solidFill>
                  <a:srgbClr val="35C7F0"/>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59535209-7FE5-483C-A1A9-AB0C392EA4A5}"/>
              </a:ext>
            </a:extLst>
          </p:cNvPr>
          <p:cNvSpPr>
            <a:spLocks xmlns:a="http://schemas.openxmlformats.org/drawingml/2006/main" noGrp="1"/>
          </p:cNvSpPr>
          <p:nvPr/>
        </p:nvSpPr>
        <p:spPr>
          <a:xfrm xmlns:a="http://schemas.openxmlformats.org/drawingml/2006/main">
            <a:off x="6534150" y="30861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7FAFC"/>
                </a:solidFill>
                <a:latin typeface="Aptos"/>
                <a:ea typeface="Aptos"/>
                <a:cs typeface="Aptos"/>
              </a:defRPr>
            </a:pPr>
            <a:r>
              <a:rPr sz="1500" b="1">
                <a:solidFill>
                  <a:srgbClr val="F7FAFC"/>
                </a:solidFill>
                <a:latin typeface="Aptos"/>
                <a:ea typeface="Aptos"/>
                <a:cs typeface="Aptos"/>
              </a:rPr>
              <a:t>SANDBOX PROTOTYPE</a:t>
            </a:r>
          </a:p>
        </p:txBody>
      </p:sp>
      <p:sp>
        <p:nvSpPr>
          <p:cNvPr id="16" name="">
            <a:extLst xmlns:a="http://schemas.openxmlformats.org/drawingml/2006/main">
              <a:ext uri="{FF2B5EF4-FFF2-40B4-BE49-F238E27FC236}">
                <a16:creationId xmlns:a16="http://schemas.microsoft.com/office/drawing/2014/main" id="{B1F19768-03F1-4B8D-9D18-5F3D31E58AEC}"/>
              </a:ext>
            </a:extLst>
          </p:cNvPr>
          <p:cNvSpPr>
            <a:spLocks xmlns:a="http://schemas.openxmlformats.org/drawingml/2006/main" noGrp="1"/>
          </p:cNvSpPr>
          <p:nvPr/>
        </p:nvSpPr>
        <p:spPr>
          <a:xfrm xmlns:a="http://schemas.openxmlformats.org/drawingml/2006/main">
            <a:off x="6534150" y="3733800"/>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A8B5BD"/>
                </a:solidFill>
                <a:latin typeface="Aptos"/>
                <a:ea typeface="Aptos"/>
                <a:cs typeface="Aptos"/>
              </a:defRPr>
            </a:pPr>
            <a:r>
              <a:rPr sz="1425" b="0">
                <a:solidFill>
                  <a:srgbClr val="A8B5BD"/>
                </a:solidFill>
                <a:latin typeface="Aptos"/>
                <a:ea typeface="Aptos"/>
                <a:cs typeface="Aptos"/>
              </a:rPr>
              <a:t>Connect a limited test league with controlled data and participants.</a:t>
            </a:r>
          </a:p>
        </p:txBody>
      </p:sp>
      <p:sp>
        <p:nvSpPr>
          <p:cNvPr id="17" name="">
            <a:extLst xmlns:a="http://schemas.openxmlformats.org/drawingml/2006/main">
              <a:ext uri="{FF2B5EF4-FFF2-40B4-BE49-F238E27FC236}">
                <a16:creationId xmlns:a16="http://schemas.microsoft.com/office/drawing/2014/main" id="{32D47EBE-73EE-4341-B536-83A19697FE86}"/>
              </a:ext>
            </a:extLst>
          </p:cNvPr>
          <p:cNvSpPr>
            <a:spLocks xmlns:a="http://schemas.openxmlformats.org/drawingml/2006/main" noGrp="1"/>
          </p:cNvSpPr>
          <p:nvPr/>
        </p:nvSpPr>
        <p:spPr>
          <a:xfrm xmlns:a="http://schemas.openxmlformats.org/drawingml/2006/main">
            <a:off x="9182100" y="2266950"/>
            <a:ext cx="2381250" cy="2952750"/>
          </a:xfrm>
          <a:prstGeom xmlns:a="http://schemas.openxmlformats.org/drawingml/2006/main" prst="roundRect">
            <a:avLst>
              <a:gd name="adj" fmla="val 4800"/>
            </a:avLst>
          </a:prstGeom>
          <a:solidFill xmlns:a="http://schemas.openxmlformats.org/drawingml/2006/main">
            <a:srgbClr val="10171C"/>
          </a:solidFill>
          <a:ln xmlns:a="http://schemas.openxmlformats.org/drawingml/2006/main" w="11906">
            <a:solidFill>
              <a:srgbClr val="00E59B"/>
            </a:solidFill>
            <a:prstDash val="solid"/>
          </a:ln>
        </p:spPr>
      </p:sp>
      <p:sp>
        <p:nvSpPr>
          <p:cNvPr id="18" name="">
            <a:extLst xmlns:a="http://schemas.openxmlformats.org/drawingml/2006/main">
              <a:ext uri="{FF2B5EF4-FFF2-40B4-BE49-F238E27FC236}">
                <a16:creationId xmlns:a16="http://schemas.microsoft.com/office/drawing/2014/main" id="{69B90656-8A7F-4DD4-A749-9DA15ABC6CFA}"/>
              </a:ext>
            </a:extLst>
          </p:cNvPr>
          <p:cNvSpPr>
            <a:spLocks xmlns:a="http://schemas.openxmlformats.org/drawingml/2006/main" noGrp="1"/>
          </p:cNvSpPr>
          <p:nvPr/>
        </p:nvSpPr>
        <p:spPr>
          <a:xfrm xmlns:a="http://schemas.openxmlformats.org/drawingml/2006/main">
            <a:off x="9372600" y="2476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00E59B"/>
                </a:solidFill>
                <a:latin typeface="Aptos"/>
                <a:ea typeface="Aptos"/>
                <a:cs typeface="Aptos"/>
              </a:defRPr>
            </a:pPr>
            <a:r>
              <a:rPr sz="2100" b="1">
                <a:solidFill>
                  <a:srgbClr val="00E59B"/>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ABFCEFF5-6D5B-4A00-86AF-418052DA6C47}"/>
              </a:ext>
            </a:extLst>
          </p:cNvPr>
          <p:cNvSpPr>
            <a:spLocks xmlns:a="http://schemas.openxmlformats.org/drawingml/2006/main" noGrp="1"/>
          </p:cNvSpPr>
          <p:nvPr/>
        </p:nvSpPr>
        <p:spPr>
          <a:xfrm xmlns:a="http://schemas.openxmlformats.org/drawingml/2006/main">
            <a:off x="9372600" y="30861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7FAFC"/>
                </a:solidFill>
                <a:latin typeface="Aptos"/>
                <a:ea typeface="Aptos"/>
                <a:cs typeface="Aptos"/>
              </a:defRPr>
            </a:pPr>
            <a:r>
              <a:rPr sz="1500" b="1">
                <a:solidFill>
                  <a:srgbClr val="F7FAFC"/>
                </a:solidFill>
                <a:latin typeface="Aptos"/>
                <a:ea typeface="Aptos"/>
                <a:cs typeface="Aptos"/>
              </a:rPr>
              <a:t>EVALUATION</a:t>
            </a:r>
          </a:p>
        </p:txBody>
      </p:sp>
      <p:sp>
        <p:nvSpPr>
          <p:cNvPr id="20" name="">
            <a:extLst xmlns:a="http://schemas.openxmlformats.org/drawingml/2006/main">
              <a:ext uri="{FF2B5EF4-FFF2-40B4-BE49-F238E27FC236}">
                <a16:creationId xmlns:a16="http://schemas.microsoft.com/office/drawing/2014/main" id="{38433D88-3002-4977-87EA-38342BB7BC61}"/>
              </a:ext>
            </a:extLst>
          </p:cNvPr>
          <p:cNvSpPr>
            <a:spLocks xmlns:a="http://schemas.openxmlformats.org/drawingml/2006/main" noGrp="1"/>
          </p:cNvSpPr>
          <p:nvPr/>
        </p:nvSpPr>
        <p:spPr>
          <a:xfrm xmlns:a="http://schemas.openxmlformats.org/drawingml/2006/main">
            <a:off x="9372600" y="3733800"/>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A8B5BD"/>
                </a:solidFill>
                <a:latin typeface="Aptos"/>
                <a:ea typeface="Aptos"/>
                <a:cs typeface="Aptos"/>
              </a:defRPr>
            </a:pPr>
            <a:r>
              <a:rPr sz="1425" b="0">
                <a:solidFill>
                  <a:srgbClr val="A8B5BD"/>
                </a:solidFill>
                <a:latin typeface="Aptos"/>
                <a:ea typeface="Aptos"/>
                <a:cs typeface="Aptos"/>
              </a:rPr>
              <a:t>Measure league activity, reliability, return-to-game behavior, and user value.</a:t>
            </a:r>
          </a:p>
        </p:txBody>
      </p:sp>
      <p:sp>
        <p:nvSpPr>
          <p:cNvPr id="21" name="">
            <a:extLst xmlns:a="http://schemas.openxmlformats.org/drawingml/2006/main">
              <a:ext uri="{FF2B5EF4-FFF2-40B4-BE49-F238E27FC236}">
                <a16:creationId xmlns:a16="http://schemas.microsoft.com/office/drawing/2014/main" id="{B3814488-47B5-4745-85C9-25D148A4E12E}"/>
              </a:ext>
            </a:extLst>
          </p:cNvPr>
          <p:cNvSpPr>
            <a:spLocks xmlns:a="http://schemas.openxmlformats.org/drawingml/2006/main" noGrp="1"/>
          </p:cNvSpPr>
          <p:nvPr/>
        </p:nvSpPr>
        <p:spPr>
          <a:xfrm xmlns:a="http://schemas.openxmlformats.org/drawingml/2006/main">
            <a:off x="3381375" y="5562600"/>
            <a:ext cx="5429250" cy="342900"/>
          </a:xfrm>
          <a:prstGeom xmlns:a="http://schemas.openxmlformats.org/drawingml/2006/main" prst="roundRect">
            <a:avLst>
              <a:gd name="adj" fmla="val 50000"/>
            </a:avLst>
          </a:prstGeom>
          <a:solidFill xmlns:a="http://schemas.openxmlformats.org/drawingml/2006/main">
            <a:srgbClr val="0B1514"/>
          </a:solidFill>
          <a:ln xmlns:a="http://schemas.openxmlformats.org/drawingml/2006/main" w="11906">
            <a:solidFill>
              <a:srgbClr val="F5B82E"/>
            </a:solidFill>
            <a:prstDash val="solid"/>
          </a:ln>
        </p:spPr>
      </p:sp>
      <p:sp>
        <p:nvSpPr>
          <p:cNvPr id="22" name="">
            <a:extLst xmlns:a="http://schemas.openxmlformats.org/drawingml/2006/main">
              <a:ext uri="{FF2B5EF4-FFF2-40B4-BE49-F238E27FC236}">
                <a16:creationId xmlns:a16="http://schemas.microsoft.com/office/drawing/2014/main" id="{FF1A40B9-FD1C-4E1D-80BD-CE71E15CAEA1}"/>
              </a:ext>
            </a:extLst>
          </p:cNvPr>
          <p:cNvSpPr>
            <a:spLocks xmlns:a="http://schemas.openxmlformats.org/drawingml/2006/main" noGrp="1"/>
          </p:cNvSpPr>
          <p:nvPr/>
        </p:nvSpPr>
        <p:spPr>
          <a:xfrm xmlns:a="http://schemas.openxmlformats.org/drawingml/2006/main">
            <a:off x="3476625" y="558165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5B82E"/>
                </a:solidFill>
                <a:latin typeface="Aptos"/>
                <a:ea typeface="Aptos"/>
                <a:cs typeface="Aptos"/>
              </a:defRPr>
            </a:pPr>
            <a:r>
              <a:rPr sz="1050" b="1">
                <a:solidFill>
                  <a:srgbClr val="F5B82E"/>
                </a:solidFill>
                <a:latin typeface="Aptos"/>
                <a:ea typeface="Aptos"/>
                <a:cs typeface="Aptos"/>
              </a:rPr>
              <a:t>NO SOURCE-CODE ACCESS REQUIRED FOR INITIAL EVALUATION</a:t>
            </a:r>
          </a:p>
        </p:txBody>
      </p:sp>
      <p:sp>
        <p:nvSpPr>
          <p:cNvPr id="23" name="">
            <a:extLst xmlns:a="http://schemas.openxmlformats.org/drawingml/2006/main">
              <a:ext uri="{FF2B5EF4-FFF2-40B4-BE49-F238E27FC236}">
                <a16:creationId xmlns:a16="http://schemas.microsoft.com/office/drawing/2014/main" id="{63436489-3A3B-4217-88F0-07CE61F2EB26}"/>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1">
                <a:solidFill>
                  <a:srgbClr val="6D7B83"/>
                </a:solidFill>
                <a:latin typeface="Aptos"/>
                <a:ea typeface="Aptos"/>
                <a:cs typeface="Aptos"/>
              </a:defRPr>
            </a:pPr>
            <a:r>
              <a:rPr sz="900" b="1">
                <a:solidFill>
                  <a:srgbClr val="6D7B83"/>
                </a:solidFill>
                <a:latin typeface="Aptos"/>
                <a:ea typeface="Aptos"/>
                <a:cs typeface="Aptos"/>
              </a:rPr>
              <a:t>PRIVATE STRATEGIC DISCUSSION</a:t>
            </a:r>
          </a:p>
        </p:txBody>
      </p:sp>
      <p:sp>
        <p:nvSpPr>
          <p:cNvPr id="24" name="">
            <a:extLst xmlns:a="http://schemas.openxmlformats.org/drawingml/2006/main">
              <a:ext uri="{FF2B5EF4-FFF2-40B4-BE49-F238E27FC236}">
                <a16:creationId xmlns:a16="http://schemas.microsoft.com/office/drawing/2014/main" id="{86F54C1E-584D-47CB-AF1A-185C72B51D04}"/>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6D7B83"/>
                </a:solidFill>
                <a:latin typeface="Aptos"/>
                <a:ea typeface="Aptos"/>
                <a:cs typeface="Aptos"/>
              </a:defRPr>
            </a:pPr>
            <a:r>
              <a:rPr sz="900" b="1">
                <a:solidFill>
                  <a:srgbClr val="6D7B83"/>
                </a:solidFill>
                <a:latin typeface="Aptos"/>
                <a:ea typeface="Aptos"/>
                <a:cs typeface="Aptos"/>
              </a:rPr>
              <a:t>09</a:t>
            </a:r>
          </a:p>
        </p:txBody>
      </p:sp>
    </p:spTree>
    <p:extLst>
      <p:ext uri="{BB962C8B-B14F-4D97-AF65-F5344CB8AC3E}">
        <p14:creationId xmlns:p14="http://schemas.microsoft.com/office/powerpoint/2010/main" val="1841238399"/>
      </p:ext>
    </p:extLst>
  </p:cSld>
</p:sld>
</file>

<file path=ppt/slides/slide10.xml><?xml version="1.0" encoding="utf-8"?>
<p:sld xmlns:p="http://schemas.openxmlformats.org/presentationml/2006/main">
  <p:cSld>
    <p:bg>
      <p:bgPr>
        <a:solidFill xmlns:a="http://schemas.openxmlformats.org/drawingml/2006/main">
          <a:srgbClr val="070B0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2599C2-096D-4D23-80BA-FEB8C887760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E59B"/>
          </a:solidFill>
          <a:ln xmlns:a="http://schemas.openxmlformats.org/drawingml/2006/main" w="11906">
            <a:solidFill>
              <a:srgbClr val="00E59B"/>
            </a:solidFill>
            <a:prstDash val="solid"/>
          </a:ln>
        </p:spPr>
      </p:sp>
      <p:sp>
        <p:nvSpPr>
          <p:cNvPr id="2" name="">
            <a:extLst xmlns:a="http://schemas.openxmlformats.org/drawingml/2006/main">
              <a:ext uri="{FF2B5EF4-FFF2-40B4-BE49-F238E27FC236}">
                <a16:creationId xmlns:a16="http://schemas.microsoft.com/office/drawing/2014/main" id="{32468C21-F374-44E9-97C7-A3E9CF1AB9C7}"/>
              </a:ext>
            </a:extLst>
          </p:cNvPr>
          <p:cNvSpPr>
            <a:spLocks xmlns:a="http://schemas.openxmlformats.org/drawingml/2006/main" noGrp="1"/>
          </p:cNvSpPr>
          <p:nvPr/>
        </p:nvSpPr>
        <p:spPr>
          <a:xfrm xmlns:a="http://schemas.openxmlformats.org/drawingml/2006/main">
            <a:off x="685800" y="723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THE INITIAL ASK</a:t>
            </a:r>
          </a:p>
        </p:txBody>
      </p:sp>
      <p:sp>
        <p:nvSpPr>
          <p:cNvPr id="3" name="">
            <a:extLst xmlns:a="http://schemas.openxmlformats.org/drawingml/2006/main">
              <a:ext uri="{FF2B5EF4-FFF2-40B4-BE49-F238E27FC236}">
                <a16:creationId xmlns:a16="http://schemas.microsoft.com/office/drawing/2014/main" id="{E6A18503-2B74-4D88-9325-5570E127F1E2}"/>
              </a:ext>
            </a:extLst>
          </p:cNvPr>
          <p:cNvSpPr>
            <a:spLocks xmlns:a="http://schemas.openxmlformats.org/drawingml/2006/main" noGrp="1"/>
          </p:cNvSpPr>
          <p:nvPr/>
        </p:nvSpPr>
        <p:spPr>
          <a:xfrm xmlns:a="http://schemas.openxmlformats.org/drawingml/2006/main">
            <a:off x="685800" y="1219200"/>
            <a:ext cx="666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AFC"/>
                </a:solidFill>
                <a:latin typeface="Aptos"/>
                <a:ea typeface="Aptos"/>
                <a:cs typeface="Aptos"/>
              </a:defRPr>
            </a:pPr>
            <a:r>
              <a:rPr sz="3600" b="1">
                <a:solidFill>
                  <a:srgbClr val="F7FAFC"/>
                </a:solidFill>
                <a:latin typeface="Aptos"/>
                <a:ea typeface="Aptos"/>
                <a:cs typeface="Aptos"/>
              </a:rPr>
              <a:t>Evaluate a connected</a:t>
            </a:r>
          </a:p>
          <a:p xmlns:a="http://schemas.openxmlformats.org/drawingml/2006/main">
            <a:pPr algn="l">
              <a:defRPr sz="3600" b="1">
                <a:solidFill>
                  <a:srgbClr val="F7FAFC"/>
                </a:solidFill>
                <a:latin typeface="Aptos"/>
                <a:ea typeface="Aptos"/>
                <a:cs typeface="Aptos"/>
              </a:defRPr>
            </a:pPr>
            <a:r>
              <a:rPr sz="3600" b="1">
                <a:solidFill>
                  <a:srgbClr val="F7FAFC"/>
                </a:solidFill>
                <a:latin typeface="Aptos"/>
                <a:ea typeface="Aptos"/>
                <a:cs typeface="Aptos"/>
              </a:rPr>
              <a:t>MyNBA / MyGM prototype.</a:t>
            </a:r>
          </a:p>
        </p:txBody>
      </p:sp>
      <p:sp>
        <p:nvSpPr>
          <p:cNvPr id="4" name="">
            <a:extLst xmlns:a="http://schemas.openxmlformats.org/drawingml/2006/main">
              <a:ext uri="{FF2B5EF4-FFF2-40B4-BE49-F238E27FC236}">
                <a16:creationId xmlns:a16="http://schemas.microsoft.com/office/drawing/2014/main" id="{9B295307-6387-4E95-9FC1-360F45CBC282}"/>
              </a:ext>
            </a:extLst>
          </p:cNvPr>
          <p:cNvSpPr>
            <a:spLocks xmlns:a="http://schemas.openxmlformats.org/drawingml/2006/main" noGrp="1"/>
          </p:cNvSpPr>
          <p:nvPr/>
        </p:nvSpPr>
        <p:spPr>
          <a:xfrm xmlns:a="http://schemas.openxmlformats.org/drawingml/2006/main">
            <a:off x="685800" y="278130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0">
                <a:solidFill>
                  <a:srgbClr val="A8B5BD"/>
                </a:solidFill>
                <a:latin typeface="Aptos"/>
                <a:ea typeface="Aptos"/>
                <a:cs typeface="Aptos"/>
              </a:defRPr>
            </a:pPr>
            <a:r>
              <a:rPr sz="1800" b="0">
                <a:solidFill>
                  <a:srgbClr val="A8B5BD"/>
                </a:solidFill>
                <a:latin typeface="Aptos"/>
                <a:ea typeface="Aptos"/>
                <a:cs typeface="Aptos"/>
              </a:rPr>
              <a:t>Bring the right product and technical owners into one focused conversation.</a:t>
            </a:r>
          </a:p>
        </p:txBody>
      </p:sp>
      <p:sp>
        <p:nvSpPr>
          <p:cNvPr id="5" name="">
            <a:extLst xmlns:a="http://schemas.openxmlformats.org/drawingml/2006/main">
              <a:ext uri="{FF2B5EF4-FFF2-40B4-BE49-F238E27FC236}">
                <a16:creationId xmlns:a16="http://schemas.microsoft.com/office/drawing/2014/main" id="{96619F31-B5D6-4920-980F-43614B61D022}"/>
              </a:ext>
            </a:extLst>
          </p:cNvPr>
          <p:cNvSpPr>
            <a:spLocks xmlns:a="http://schemas.openxmlformats.org/drawingml/2006/main" noGrp="1"/>
          </p:cNvSpPr>
          <p:nvPr/>
        </p:nvSpPr>
        <p:spPr>
          <a:xfrm xmlns:a="http://schemas.openxmlformats.org/drawingml/2006/main">
            <a:off x="685800" y="3829050"/>
            <a:ext cx="3048000" cy="723900"/>
          </a:xfrm>
          <a:prstGeom xmlns:a="http://schemas.openxmlformats.org/drawingml/2006/main" prst="roundRect">
            <a:avLst>
              <a:gd name="adj" fmla="val 15789"/>
            </a:avLst>
          </a:prstGeom>
          <a:solidFill xmlns:a="http://schemas.openxmlformats.org/drawingml/2006/main">
            <a:srgbClr val="10171C"/>
          </a:solidFill>
          <a:ln xmlns:a="http://schemas.openxmlformats.org/drawingml/2006/main" w="11906">
            <a:solidFill>
              <a:srgbClr val="00E59B"/>
            </a:solidFill>
            <a:prstDash val="solid"/>
          </a:ln>
        </p:spPr>
      </p:sp>
      <p:sp>
        <p:nvSpPr>
          <p:cNvPr id="6" name="">
            <a:extLst xmlns:a="http://schemas.openxmlformats.org/drawingml/2006/main">
              <a:ext uri="{FF2B5EF4-FFF2-40B4-BE49-F238E27FC236}">
                <a16:creationId xmlns:a16="http://schemas.microsoft.com/office/drawing/2014/main" id="{CB0983A6-B867-4194-8978-072E342B95AC}"/>
              </a:ext>
            </a:extLst>
          </p:cNvPr>
          <p:cNvSpPr>
            <a:spLocks xmlns:a="http://schemas.openxmlformats.org/drawingml/2006/main" noGrp="1"/>
          </p:cNvSpPr>
          <p:nvPr/>
        </p:nvSpPr>
        <p:spPr>
          <a:xfrm xmlns:a="http://schemas.openxmlformats.org/drawingml/2006/main">
            <a:off x="838200" y="3924300"/>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00E59B"/>
                </a:solidFill>
                <a:latin typeface="Aptos"/>
                <a:ea typeface="Aptos"/>
                <a:cs typeface="Aptos"/>
              </a:defRPr>
            </a:pPr>
            <a:r>
              <a:rPr sz="1125" b="1">
                <a:solidFill>
                  <a:srgbClr val="00E59B"/>
                </a:solidFill>
                <a:latin typeface="Aptos"/>
                <a:ea typeface="Aptos"/>
                <a:cs typeface="Aptos"/>
              </a:rPr>
              <a:t>NBA 2K PRODUCT</a:t>
            </a:r>
          </a:p>
        </p:txBody>
      </p:sp>
      <p:sp>
        <p:nvSpPr>
          <p:cNvPr id="7" name="">
            <a:extLst xmlns:a="http://schemas.openxmlformats.org/drawingml/2006/main">
              <a:ext uri="{FF2B5EF4-FFF2-40B4-BE49-F238E27FC236}">
                <a16:creationId xmlns:a16="http://schemas.microsoft.com/office/drawing/2014/main" id="{5F4726AA-D4FC-4F93-8DFD-A66B5B8FD602}"/>
              </a:ext>
            </a:extLst>
          </p:cNvPr>
          <p:cNvSpPr>
            <a:spLocks xmlns:a="http://schemas.openxmlformats.org/drawingml/2006/main" noGrp="1"/>
          </p:cNvSpPr>
          <p:nvPr/>
        </p:nvSpPr>
        <p:spPr>
          <a:xfrm xmlns:a="http://schemas.openxmlformats.org/drawingml/2006/main">
            <a:off x="838200" y="4171950"/>
            <a:ext cx="274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a:solidFill>
                  <a:srgbClr val="F7FAFC"/>
                </a:solidFill>
                <a:latin typeface="Aptos"/>
                <a:ea typeface="Aptos"/>
                <a:cs typeface="Aptos"/>
              </a:defRPr>
            </a:pPr>
            <a:r>
              <a:rPr sz="1200" b="0">
                <a:solidFill>
                  <a:srgbClr val="F7FAFC"/>
                </a:solidFill>
                <a:latin typeface="Aptos"/>
                <a:ea typeface="Aptos"/>
                <a:cs typeface="Aptos"/>
              </a:rPr>
              <a:t>Roadmap and player value</a:t>
            </a:r>
          </a:p>
        </p:txBody>
      </p:sp>
      <p:sp>
        <p:nvSpPr>
          <p:cNvPr id="8" name="">
            <a:extLst xmlns:a="http://schemas.openxmlformats.org/drawingml/2006/main">
              <a:ext uri="{FF2B5EF4-FFF2-40B4-BE49-F238E27FC236}">
                <a16:creationId xmlns:a16="http://schemas.microsoft.com/office/drawing/2014/main" id="{90985BB8-01C9-407A-BBE6-19F1451BFE6F}"/>
              </a:ext>
            </a:extLst>
          </p:cNvPr>
          <p:cNvSpPr>
            <a:spLocks xmlns:a="http://schemas.openxmlformats.org/drawingml/2006/main" noGrp="1"/>
          </p:cNvSpPr>
          <p:nvPr/>
        </p:nvSpPr>
        <p:spPr>
          <a:xfrm xmlns:a="http://schemas.openxmlformats.org/drawingml/2006/main">
            <a:off x="3924300" y="3829050"/>
            <a:ext cx="3048000" cy="723900"/>
          </a:xfrm>
          <a:prstGeom xmlns:a="http://schemas.openxmlformats.org/drawingml/2006/main" prst="roundRect">
            <a:avLst>
              <a:gd name="adj" fmla="val 15789"/>
            </a:avLst>
          </a:prstGeom>
          <a:solidFill xmlns:a="http://schemas.openxmlformats.org/drawingml/2006/main">
            <a:srgbClr val="10171C"/>
          </a:solidFill>
          <a:ln xmlns:a="http://schemas.openxmlformats.org/drawingml/2006/main" w="11906">
            <a:solidFill>
              <a:srgbClr val="26343C"/>
            </a:solidFill>
            <a:prstDash val="solid"/>
          </a:ln>
        </p:spPr>
      </p:sp>
      <p:sp>
        <p:nvSpPr>
          <p:cNvPr id="9" name="">
            <a:extLst xmlns:a="http://schemas.openxmlformats.org/drawingml/2006/main">
              <a:ext uri="{FF2B5EF4-FFF2-40B4-BE49-F238E27FC236}">
                <a16:creationId xmlns:a16="http://schemas.microsoft.com/office/drawing/2014/main" id="{3A391FA7-6695-409B-A76C-2276E52762F6}"/>
              </a:ext>
            </a:extLst>
          </p:cNvPr>
          <p:cNvSpPr>
            <a:spLocks xmlns:a="http://schemas.openxmlformats.org/drawingml/2006/main" noGrp="1"/>
          </p:cNvSpPr>
          <p:nvPr/>
        </p:nvSpPr>
        <p:spPr>
          <a:xfrm xmlns:a="http://schemas.openxmlformats.org/drawingml/2006/main">
            <a:off x="4076700" y="3924300"/>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35C7F0"/>
                </a:solidFill>
                <a:latin typeface="Aptos"/>
                <a:ea typeface="Aptos"/>
                <a:cs typeface="Aptos"/>
              </a:defRPr>
            </a:pPr>
            <a:r>
              <a:rPr sz="1125" b="1">
                <a:solidFill>
                  <a:srgbClr val="35C7F0"/>
                </a:solidFill>
                <a:latin typeface="Aptos"/>
                <a:ea typeface="Aptos"/>
                <a:cs typeface="Aptos"/>
              </a:rPr>
              <a:t>VISUAL CONCEPTS</a:t>
            </a:r>
          </a:p>
        </p:txBody>
      </p:sp>
      <p:sp>
        <p:nvSpPr>
          <p:cNvPr id="10" name="">
            <a:extLst xmlns:a="http://schemas.openxmlformats.org/drawingml/2006/main">
              <a:ext uri="{FF2B5EF4-FFF2-40B4-BE49-F238E27FC236}">
                <a16:creationId xmlns:a16="http://schemas.microsoft.com/office/drawing/2014/main" id="{9378027E-DB45-4BDE-8880-05A84C2F4AA3}"/>
              </a:ext>
            </a:extLst>
          </p:cNvPr>
          <p:cNvSpPr>
            <a:spLocks xmlns:a="http://schemas.openxmlformats.org/drawingml/2006/main" noGrp="1"/>
          </p:cNvSpPr>
          <p:nvPr/>
        </p:nvSpPr>
        <p:spPr>
          <a:xfrm xmlns:a="http://schemas.openxmlformats.org/drawingml/2006/main">
            <a:off x="4076700" y="4171950"/>
            <a:ext cx="274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9"/>
          </a:bodyPr>
          <a:lstStyle xmlns:a="http://schemas.openxmlformats.org/drawingml/2006/main"/>
          <a:p xmlns:a="http://schemas.openxmlformats.org/drawingml/2006/main">
            <a:pPr algn="l">
              <a:defRPr sz="1200" b="0">
                <a:solidFill>
                  <a:srgbClr val="F7FAFC"/>
                </a:solidFill>
                <a:latin typeface="Aptos"/>
                <a:ea typeface="Aptos"/>
                <a:cs typeface="Aptos"/>
              </a:defRPr>
            </a:pPr>
            <a:r>
              <a:rPr sz="1200" b="0">
                <a:solidFill>
                  <a:srgbClr val="F7FAFC"/>
                </a:solidFill>
                <a:latin typeface="Aptos"/>
                <a:ea typeface="Aptos"/>
                <a:cs typeface="Aptos"/>
              </a:rPr>
              <a:t>MyNBA / MyGM workflow and feasibility</a:t>
            </a:r>
          </a:p>
        </p:txBody>
      </p:sp>
      <p:sp>
        <p:nvSpPr>
          <p:cNvPr id="11" name="">
            <a:extLst xmlns:a="http://schemas.openxmlformats.org/drawingml/2006/main">
              <a:ext uri="{FF2B5EF4-FFF2-40B4-BE49-F238E27FC236}">
                <a16:creationId xmlns:a16="http://schemas.microsoft.com/office/drawing/2014/main" id="{71FB3E42-31D4-4C2B-991B-1D7D88D9B298}"/>
              </a:ext>
            </a:extLst>
          </p:cNvPr>
          <p:cNvSpPr>
            <a:spLocks xmlns:a="http://schemas.openxmlformats.org/drawingml/2006/main" noGrp="1"/>
          </p:cNvSpPr>
          <p:nvPr/>
        </p:nvSpPr>
        <p:spPr>
          <a:xfrm xmlns:a="http://schemas.openxmlformats.org/drawingml/2006/main">
            <a:off x="685800" y="4724400"/>
            <a:ext cx="3048000" cy="723900"/>
          </a:xfrm>
          <a:prstGeom xmlns:a="http://schemas.openxmlformats.org/drawingml/2006/main" prst="roundRect">
            <a:avLst>
              <a:gd name="adj" fmla="val 15789"/>
            </a:avLst>
          </a:prstGeom>
          <a:solidFill xmlns:a="http://schemas.openxmlformats.org/drawingml/2006/main">
            <a:srgbClr val="10171C"/>
          </a:solidFill>
          <a:ln xmlns:a="http://schemas.openxmlformats.org/drawingml/2006/main" w="11906">
            <a:solidFill>
              <a:srgbClr val="26343C"/>
            </a:solidFill>
            <a:prstDash val="solid"/>
          </a:ln>
        </p:spPr>
      </p:sp>
      <p:sp>
        <p:nvSpPr>
          <p:cNvPr id="12" name="">
            <a:extLst xmlns:a="http://schemas.openxmlformats.org/drawingml/2006/main">
              <a:ext uri="{FF2B5EF4-FFF2-40B4-BE49-F238E27FC236}">
                <a16:creationId xmlns:a16="http://schemas.microsoft.com/office/drawing/2014/main" id="{742BB1DF-B42D-4514-8FF8-04DC6492C8E7}"/>
              </a:ext>
            </a:extLst>
          </p:cNvPr>
          <p:cNvSpPr>
            <a:spLocks xmlns:a="http://schemas.openxmlformats.org/drawingml/2006/main" noGrp="1"/>
          </p:cNvSpPr>
          <p:nvPr/>
        </p:nvSpPr>
        <p:spPr>
          <a:xfrm xmlns:a="http://schemas.openxmlformats.org/drawingml/2006/main">
            <a:off x="838200" y="4819650"/>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35C7F0"/>
                </a:solidFill>
                <a:latin typeface="Aptos"/>
                <a:ea typeface="Aptos"/>
                <a:cs typeface="Aptos"/>
              </a:defRPr>
            </a:pPr>
            <a:r>
              <a:rPr sz="1125" b="1">
                <a:solidFill>
                  <a:srgbClr val="35C7F0"/>
                </a:solidFill>
                <a:latin typeface="Aptos"/>
                <a:ea typeface="Aptos"/>
                <a:cs typeface="Aptos"/>
              </a:rPr>
              <a:t>2K ONLINE + MOBILE</a:t>
            </a:r>
          </a:p>
        </p:txBody>
      </p:sp>
      <p:sp>
        <p:nvSpPr>
          <p:cNvPr id="13" name="">
            <a:extLst xmlns:a="http://schemas.openxmlformats.org/drawingml/2006/main">
              <a:ext uri="{FF2B5EF4-FFF2-40B4-BE49-F238E27FC236}">
                <a16:creationId xmlns:a16="http://schemas.microsoft.com/office/drawing/2014/main" id="{743E9B37-AEF7-418F-AAB1-9CA368150AE5}"/>
              </a:ext>
            </a:extLst>
          </p:cNvPr>
          <p:cNvSpPr>
            <a:spLocks xmlns:a="http://schemas.openxmlformats.org/drawingml/2006/main" noGrp="1"/>
          </p:cNvSpPr>
          <p:nvPr/>
        </p:nvSpPr>
        <p:spPr>
          <a:xfrm xmlns:a="http://schemas.openxmlformats.org/drawingml/2006/main">
            <a:off x="838200" y="5067300"/>
            <a:ext cx="274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259"/>
          </a:bodyPr>
          <a:lstStyle xmlns:a="http://schemas.openxmlformats.org/drawingml/2006/main"/>
          <a:p xmlns:a="http://schemas.openxmlformats.org/drawingml/2006/main">
            <a:pPr algn="l">
              <a:defRPr sz="1200" b="0">
                <a:solidFill>
                  <a:srgbClr val="F7FAFC"/>
                </a:solidFill>
                <a:latin typeface="Aptos"/>
                <a:ea typeface="Aptos"/>
                <a:cs typeface="Aptos"/>
              </a:defRPr>
            </a:pPr>
            <a:r>
              <a:rPr sz="1200" b="0">
                <a:solidFill>
                  <a:srgbClr val="F7FAFC"/>
                </a:solidFill>
                <a:latin typeface="Aptos"/>
                <a:ea typeface="Aptos"/>
                <a:cs typeface="Aptos"/>
              </a:rPr>
              <a:t>Identity, services, permissions, synchronization</a:t>
            </a:r>
          </a:p>
        </p:txBody>
      </p:sp>
      <p:sp>
        <p:nvSpPr>
          <p:cNvPr id="14" name="">
            <a:extLst xmlns:a="http://schemas.openxmlformats.org/drawingml/2006/main">
              <a:ext uri="{FF2B5EF4-FFF2-40B4-BE49-F238E27FC236}">
                <a16:creationId xmlns:a16="http://schemas.microsoft.com/office/drawing/2014/main" id="{078BAB8F-4738-4C6F-B6A6-695B4577BBFE}"/>
              </a:ext>
            </a:extLst>
          </p:cNvPr>
          <p:cNvSpPr>
            <a:spLocks xmlns:a="http://schemas.openxmlformats.org/drawingml/2006/main" noGrp="1"/>
          </p:cNvSpPr>
          <p:nvPr/>
        </p:nvSpPr>
        <p:spPr>
          <a:xfrm xmlns:a="http://schemas.openxmlformats.org/drawingml/2006/main">
            <a:off x="3924300" y="4724400"/>
            <a:ext cx="3048000" cy="723900"/>
          </a:xfrm>
          <a:prstGeom xmlns:a="http://schemas.openxmlformats.org/drawingml/2006/main" prst="roundRect">
            <a:avLst>
              <a:gd name="adj" fmla="val 15789"/>
            </a:avLst>
          </a:prstGeom>
          <a:solidFill xmlns:a="http://schemas.openxmlformats.org/drawingml/2006/main">
            <a:srgbClr val="10171C"/>
          </a:solidFill>
          <a:ln xmlns:a="http://schemas.openxmlformats.org/drawingml/2006/main" w="11906">
            <a:solidFill>
              <a:srgbClr val="26343C"/>
            </a:solidFill>
            <a:prstDash val="solid"/>
          </a:ln>
        </p:spPr>
      </p:sp>
      <p:sp>
        <p:nvSpPr>
          <p:cNvPr id="15" name="">
            <a:extLst xmlns:a="http://schemas.openxmlformats.org/drawingml/2006/main">
              <a:ext uri="{FF2B5EF4-FFF2-40B4-BE49-F238E27FC236}">
                <a16:creationId xmlns:a16="http://schemas.microsoft.com/office/drawing/2014/main" id="{0243D910-75A3-4836-9EC9-9969308D523B}"/>
              </a:ext>
            </a:extLst>
          </p:cNvPr>
          <p:cNvSpPr>
            <a:spLocks xmlns:a="http://schemas.openxmlformats.org/drawingml/2006/main" noGrp="1"/>
          </p:cNvSpPr>
          <p:nvPr/>
        </p:nvSpPr>
        <p:spPr>
          <a:xfrm xmlns:a="http://schemas.openxmlformats.org/drawingml/2006/main">
            <a:off x="4076700" y="4819650"/>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35C7F0"/>
                </a:solidFill>
                <a:latin typeface="Aptos"/>
                <a:ea typeface="Aptos"/>
                <a:cs typeface="Aptos"/>
              </a:defRPr>
            </a:pPr>
            <a:r>
              <a:rPr sz="1125" b="1">
                <a:solidFill>
                  <a:srgbClr val="35C7F0"/>
                </a:solidFill>
                <a:latin typeface="Aptos"/>
                <a:ea typeface="Aptos"/>
                <a:cs typeface="Aptos"/>
              </a:rPr>
              <a:t>TAKE-TWO STRATEGY</a:t>
            </a:r>
          </a:p>
        </p:txBody>
      </p:sp>
      <p:sp>
        <p:nvSpPr>
          <p:cNvPr id="16" name="">
            <a:extLst xmlns:a="http://schemas.openxmlformats.org/drawingml/2006/main">
              <a:ext uri="{FF2B5EF4-FFF2-40B4-BE49-F238E27FC236}">
                <a16:creationId xmlns:a16="http://schemas.microsoft.com/office/drawing/2014/main" id="{B2B1AEDE-F747-4617-A22D-119B0FA8A13F}"/>
              </a:ext>
            </a:extLst>
          </p:cNvPr>
          <p:cNvSpPr>
            <a:spLocks xmlns:a="http://schemas.openxmlformats.org/drawingml/2006/main" noGrp="1"/>
          </p:cNvSpPr>
          <p:nvPr/>
        </p:nvSpPr>
        <p:spPr>
          <a:xfrm xmlns:a="http://schemas.openxmlformats.org/drawingml/2006/main">
            <a:off x="4076700" y="5067300"/>
            <a:ext cx="274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a:solidFill>
                  <a:srgbClr val="F7FAFC"/>
                </a:solidFill>
                <a:latin typeface="Aptos"/>
                <a:ea typeface="Aptos"/>
                <a:cs typeface="Aptos"/>
              </a:defRPr>
            </a:pPr>
            <a:r>
              <a:rPr sz="1200" b="0">
                <a:solidFill>
                  <a:srgbClr val="F7FAFC"/>
                </a:solidFill>
                <a:latin typeface="Aptos"/>
                <a:ea typeface="Aptos"/>
                <a:cs typeface="Aptos"/>
              </a:rPr>
              <a:t>Partnership and commercial structure</a:t>
            </a:r>
          </a:p>
        </p:txBody>
      </p:sp>
      <p:sp>
        <p:nvSpPr>
          <p:cNvPr id="17" name="">
            <a:extLst xmlns:a="http://schemas.openxmlformats.org/drawingml/2006/main">
              <a:ext uri="{FF2B5EF4-FFF2-40B4-BE49-F238E27FC236}">
                <a16:creationId xmlns:a16="http://schemas.microsoft.com/office/drawing/2014/main" id="{BAF7085D-1B92-424B-8532-9679350FF3C3}"/>
              </a:ext>
            </a:extLst>
          </p:cNvPr>
          <p:cNvSpPr>
            <a:spLocks xmlns:a="http://schemas.openxmlformats.org/drawingml/2006/main" noGrp="1"/>
          </p:cNvSpPr>
          <p:nvPr/>
        </p:nvSpPr>
        <p:spPr>
          <a:xfrm xmlns:a="http://schemas.openxmlformats.org/drawingml/2006/main">
            <a:off x="8058150" y="1104900"/>
            <a:ext cx="3333750" cy="4400550"/>
          </a:xfrm>
          <a:prstGeom xmlns:a="http://schemas.openxmlformats.org/drawingml/2006/main" prst="roundRect">
            <a:avLst>
              <a:gd name="adj" fmla="val 4571"/>
            </a:avLst>
          </a:prstGeom>
          <a:solidFill xmlns:a="http://schemas.openxmlformats.org/drawingml/2006/main">
            <a:srgbClr val="0B1514"/>
          </a:solidFill>
          <a:ln xmlns:a="http://schemas.openxmlformats.org/drawingml/2006/main" w="11906">
            <a:solidFill>
              <a:srgbClr val="00E59B"/>
            </a:solidFill>
            <a:prstDash val="solid"/>
          </a:ln>
        </p:spPr>
      </p:sp>
      <p:sp>
        <p:nvSpPr>
          <p:cNvPr id="18" name="">
            <a:extLst xmlns:a="http://schemas.openxmlformats.org/drawingml/2006/main">
              <a:ext uri="{FF2B5EF4-FFF2-40B4-BE49-F238E27FC236}">
                <a16:creationId xmlns:a16="http://schemas.microsoft.com/office/drawing/2014/main" id="{47146CF2-C463-4C43-860E-093D1C0C8C88}"/>
              </a:ext>
            </a:extLst>
          </p:cNvPr>
          <p:cNvSpPr>
            <a:spLocks xmlns:a="http://schemas.openxmlformats.org/drawingml/2006/main" noGrp="1"/>
          </p:cNvSpPr>
          <p:nvPr/>
        </p:nvSpPr>
        <p:spPr>
          <a:xfrm xmlns:a="http://schemas.openxmlformats.org/drawingml/2006/main">
            <a:off x="8362950" y="14478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00E59B"/>
                </a:solidFill>
                <a:latin typeface="Aptos"/>
                <a:ea typeface="Aptos"/>
                <a:cs typeface="Aptos"/>
              </a:defRPr>
            </a:pPr>
            <a:r>
              <a:rPr sz="1200" b="1">
                <a:solidFill>
                  <a:srgbClr val="00E59B"/>
                </a:solidFill>
                <a:latin typeface="Aptos"/>
                <a:ea typeface="Aptos"/>
                <a:cs typeface="Aptos"/>
              </a:rPr>
              <a:t>DESIRED OUTCOME</a:t>
            </a:r>
          </a:p>
        </p:txBody>
      </p:sp>
      <p:sp>
        <p:nvSpPr>
          <p:cNvPr id="19" name="">
            <a:extLst xmlns:a="http://schemas.openxmlformats.org/drawingml/2006/main">
              <a:ext uri="{FF2B5EF4-FFF2-40B4-BE49-F238E27FC236}">
                <a16:creationId xmlns:a16="http://schemas.microsoft.com/office/drawing/2014/main" id="{43CF49F1-26EB-415E-A4E4-E55689085177}"/>
              </a:ext>
            </a:extLst>
          </p:cNvPr>
          <p:cNvSpPr>
            <a:spLocks xmlns:a="http://schemas.openxmlformats.org/drawingml/2006/main" noGrp="1"/>
          </p:cNvSpPr>
          <p:nvPr/>
        </p:nvSpPr>
        <p:spPr>
          <a:xfrm xmlns:a="http://schemas.openxmlformats.org/drawingml/2006/main">
            <a:off x="8362950" y="2000250"/>
            <a:ext cx="27241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17"/>
          </a:bodyPr>
          <a:lstStyle xmlns:a="http://schemas.openxmlformats.org/drawingml/2006/main"/>
          <a:p xmlns:a="http://schemas.openxmlformats.org/drawingml/2006/main">
            <a:pPr algn="l">
              <a:defRPr sz="1950" b="1">
                <a:solidFill>
                  <a:srgbClr val="F7FAFC"/>
                </a:solidFill>
                <a:latin typeface="Aptos"/>
                <a:ea typeface="Aptos"/>
                <a:cs typeface="Aptos"/>
              </a:defRPr>
            </a:pPr>
            <a:r>
              <a:rPr sz="1950" b="1">
                <a:solidFill>
                  <a:srgbClr val="F7FAFC"/>
                </a:solidFill>
                <a:latin typeface="Aptos"/>
                <a:ea typeface="Aptos"/>
                <a:cs typeface="Aptos"/>
              </a:rPr>
              <a:t>Agreement on whether to explore a sandbox pilot, licensing path, strategic partnership, acquisition discussion, or another mutually appropriate structure.</a:t>
            </a:r>
          </a:p>
        </p:txBody>
      </p:sp>
      <p:sp>
        <p:nvSpPr>
          <p:cNvPr id="20" name="">
            <a:extLst xmlns:a="http://schemas.openxmlformats.org/drawingml/2006/main">
              <a:ext uri="{FF2B5EF4-FFF2-40B4-BE49-F238E27FC236}">
                <a16:creationId xmlns:a16="http://schemas.microsoft.com/office/drawing/2014/main" id="{42D70F9F-C57D-4203-A34F-3C856111F5C9}"/>
              </a:ext>
            </a:extLst>
          </p:cNvPr>
          <p:cNvSpPr>
            <a:spLocks xmlns:a="http://schemas.openxmlformats.org/drawingml/2006/main" noGrp="1"/>
          </p:cNvSpPr>
          <p:nvPr/>
        </p:nvSpPr>
        <p:spPr>
          <a:xfrm xmlns:a="http://schemas.openxmlformats.org/drawingml/2006/main">
            <a:off x="8362950" y="4438650"/>
            <a:ext cx="2724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152"/>
          </a:bodyPr>
          <a:lstStyle xmlns:a="http://schemas.openxmlformats.org/drawingml/2006/main"/>
          <a:p xmlns:a="http://schemas.openxmlformats.org/drawingml/2006/main">
            <a:pPr algn="l">
              <a:defRPr sz="1500" b="0">
                <a:solidFill>
                  <a:srgbClr val="A8B5BD"/>
                </a:solidFill>
                <a:latin typeface="Aptos"/>
                <a:ea typeface="Aptos"/>
                <a:cs typeface="Aptos"/>
              </a:defRPr>
            </a:pPr>
            <a:r>
              <a:rPr sz="1500" b="0">
                <a:solidFill>
                  <a:srgbClr val="A8B5BD"/>
                </a:solidFill>
                <a:latin typeface="Aptos"/>
                <a:ea typeface="Aptos"/>
                <a:cs typeface="Aptos"/>
              </a:rPr>
              <a:t>Franchise Mobile keeps the league connected. NBA 2K remains where basketball is played.</a:t>
            </a:r>
          </a:p>
        </p:txBody>
      </p:sp>
      <p:sp>
        <p:nvSpPr>
          <p:cNvPr id="21" name="">
            <a:extLst xmlns:a="http://schemas.openxmlformats.org/drawingml/2006/main">
              <a:ext uri="{FF2B5EF4-FFF2-40B4-BE49-F238E27FC236}">
                <a16:creationId xmlns:a16="http://schemas.microsoft.com/office/drawing/2014/main" id="{9632D939-517A-4D7A-BFC0-20743A4ABC8C}"/>
              </a:ext>
            </a:extLst>
          </p:cNvPr>
          <p:cNvSpPr>
            <a:spLocks xmlns:a="http://schemas.openxmlformats.org/drawingml/2006/main" noGrp="1"/>
          </p:cNvSpPr>
          <p:nvPr/>
        </p:nvSpPr>
        <p:spPr>
          <a:xfrm xmlns:a="http://schemas.openxmlformats.org/drawingml/2006/main">
            <a:off x="685800" y="62865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6D7B83"/>
                </a:solidFill>
                <a:latin typeface="Aptos"/>
                <a:ea typeface="Aptos"/>
                <a:cs typeface="Aptos"/>
              </a:defRPr>
            </a:pPr>
            <a:r>
              <a:rPr sz="900" b="0">
                <a:solidFill>
                  <a:srgbClr val="6D7B83"/>
                </a:solidFill>
                <a:latin typeface="Aptos"/>
                <a:ea typeface="Aptos"/>
                <a:cs typeface="Aptos"/>
              </a:rPr>
              <a:t>Non-confidential overview • No affiliation with Take-Two, 2K, Visual Concepts, NBA, NBPA, NFL, or MLB is claimed.</a:t>
            </a:r>
          </a:p>
        </p:txBody>
      </p:sp>
    </p:spTree>
    <p:extLst>
      <p:ext uri="{BB962C8B-B14F-4D97-AF65-F5344CB8AC3E}">
        <p14:creationId xmlns:p14="http://schemas.microsoft.com/office/powerpoint/2010/main" val="2138751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2026-08-10T16:32:07.9750000Z</dcterms:created>
  <dcterms:modified xsi:type="dcterms:W3CDTF">2026-08-10T16:32:07.9750000Z</dcterms:modified>
</coreProperties>
</file>